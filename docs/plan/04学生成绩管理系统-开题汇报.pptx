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6.webp" ContentType="image/webp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media/image7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</p:sldMasterIdLst>
  <p:notesMasterIdLst>
    <p:notesMasterId r:id="rId10"/>
  </p:notesMasterIdLst>
  <p:sldIdLst>
    <p:sldId id="256" r:id="rId9"/>
    <p:sldId id="257" r:id="rId11"/>
    <p:sldId id="258" r:id="rId12"/>
    <p:sldId id="259" r:id="rId13"/>
    <p:sldId id="276" r:id="rId14"/>
    <p:sldId id="261" r:id="rId15"/>
    <p:sldId id="277" r:id="rId16"/>
    <p:sldId id="263" r:id="rId17"/>
    <p:sldId id="278" r:id="rId18"/>
    <p:sldId id="265" r:id="rId19"/>
    <p:sldId id="279" r:id="rId20"/>
    <p:sldId id="267" r:id="rId21"/>
    <p:sldId id="280" r:id="rId22"/>
    <p:sldId id="269" r:id="rId23"/>
    <p:sldId id="270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55F7"/>
    <a:srgbClr val="F97316"/>
    <a:srgbClr val="000000"/>
    <a:srgbClr val="292D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尊敬的各位老师，下午好。我们是计算机学院04组，今天我们将向大家汇报我们的课程项目——学生成绩管理系统。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本次汇报将涵盖项目背景、核心功能、技术架构、数据库设计、开发规划以及团队分工。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希望通过这次汇报，能让大家对我们的项目有一个全面的了解。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将介绍项目的背景和意义。接着，会详细阐述我们的核心功能设计。第三部分，将介绍我们选择的技术架构。第四部分是数据库设计。第五部分是项目的开发规划。最后，我们会说明团队的协作方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首先，我们进入第一部分：项目背景。在这一部分，我们将分析传统成绩管理方式的痛点，并阐述我们项目的价值所在。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项目的背景源于对传统成绩管理方式的观察。目前，许多学校仍在使用Excel甚至纸质表格来管理成绩，这带来了一系列问题。比如，手动录入效率低下，数据容易出错，版本管理混乱，以及不同角色之间的信息共享困难且不安全。这些痛点正是我们项目想要解决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首先，我们进入第一部分：项目背景。在这一部分，我们将分析传统成绩管理方式的痛点，并阐述我们项目的价值所在。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主要面向三类用户。系统管理员负责整个系统的后台管理，包括用户、课程和成绩的管理。课程教师是成绩的主要录入者和管理者，可以录入、修改和查询成绩。学生则可以登录系统查询自己的成绩单。针对不同角色，我们设计了不同的功能权限和操作流程，形成了一个完整的功能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首先，我们进入第一部分：项目背景。在这一部分，我们将分析传统成绩管理方式的痛点，并阐述我们项目的价值所在。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我们选择了成熟的B/S架构，这意味着用户无需安装客户端，通过浏览器即可访问。技术选型上，后端使用Spring Boot框架，采用MVC设计模式，持久层使用MyBatis，前端使用Vue.js。这套技术栈成熟、稳定，能够高效地支持我们的项目开发。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首先，我们进入第一部分：项目背景。在这一部分，我们将分析传统成绩管理方式的痛点，并阐述我们项目的价值所在。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在数据库设计方面，我们设计了五张核心数据表：用户表、学生表、教师表、课程表和成绩表。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列出了这五张核心实体表的具体职责：用户表存储通用的登录鉴权信息；学生表和教师表分别基于用户表进行扩展，存储各自特有的业务信息；课程表维护所有开设的课程基础数据；成绩表则作为关联枢纽，记录学生的具体考核结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上方展示了我们的ER关系图，直观地体现了各表之间的联系。下方总结了核心的关联逻辑：用户表作为基础与师生表关联，教师与课程是授课关系，而成绩表则连接了学生与课程，构建了一个完整且规范的数据模型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首先，我们进入第一部分：项目背景。在这一部分，我们将分析传统成绩管理方式的痛点，并阐述我们项目的价值所在。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我们将项目分为三个阶段。第8周主要进行设计和环境准备工作。第9到10周是核心的开发与联调阶段。最后在第11周进行结项和答辩准备。我们设定了明确的时间节点，以确保项目按时完成。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首先，我们进入第一部分：项目背景。在这一部分，我们将分析传统成绩管理方式的痛点，并阐述我们项目的价值所在。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我们团队共有五名成员，分工明确。我作为组长，负责整体协调和管理。刘敏祺和朱宁静负责后端开发，崔慧敏负责前端开发，詹淦栩负责数据库设计。我们将通过GitHub进行协作，确保项目顺利进行。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我的汇报到此结束，感谢各位老师和同学的聆听。现在是问答环节，欢迎大家提问。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14.svg"/><Relationship Id="rId51" Type="http://schemas.openxmlformats.org/officeDocument/2006/relationships/notesSlide" Target="../notesSlides/notesSlide2.xml"/><Relationship Id="rId50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9" Type="http://schemas.openxmlformats.org/officeDocument/2006/relationships/tags" Target="../tags/tag36.xml"/><Relationship Id="rId48" Type="http://schemas.openxmlformats.org/officeDocument/2006/relationships/tags" Target="../tags/tag35.xml"/><Relationship Id="rId47" Type="http://schemas.openxmlformats.org/officeDocument/2006/relationships/tags" Target="../tags/tag34.xml"/><Relationship Id="rId46" Type="http://schemas.openxmlformats.org/officeDocument/2006/relationships/image" Target="../media/image24.svg"/><Relationship Id="rId45" Type="http://schemas.openxmlformats.org/officeDocument/2006/relationships/image" Target="../media/image23.png"/><Relationship Id="rId44" Type="http://schemas.openxmlformats.org/officeDocument/2006/relationships/tags" Target="../tags/tag33.xml"/><Relationship Id="rId43" Type="http://schemas.openxmlformats.org/officeDocument/2006/relationships/tags" Target="../tags/tag32.xml"/><Relationship Id="rId42" Type="http://schemas.openxmlformats.org/officeDocument/2006/relationships/tags" Target="../tags/tag31.xml"/><Relationship Id="rId41" Type="http://schemas.openxmlformats.org/officeDocument/2006/relationships/tags" Target="../tags/tag30.xml"/><Relationship Id="rId40" Type="http://schemas.openxmlformats.org/officeDocument/2006/relationships/tags" Target="../tags/tag29.xml"/><Relationship Id="rId4" Type="http://schemas.openxmlformats.org/officeDocument/2006/relationships/tags" Target="../tags/tag3.xml"/><Relationship Id="rId39" Type="http://schemas.openxmlformats.org/officeDocument/2006/relationships/tags" Target="../tags/tag28.xml"/><Relationship Id="rId38" Type="http://schemas.openxmlformats.org/officeDocument/2006/relationships/image" Target="../media/image22.svg"/><Relationship Id="rId37" Type="http://schemas.openxmlformats.org/officeDocument/2006/relationships/image" Target="../media/image21.png"/><Relationship Id="rId36" Type="http://schemas.openxmlformats.org/officeDocument/2006/relationships/tags" Target="../tags/tag27.xml"/><Relationship Id="rId35" Type="http://schemas.openxmlformats.org/officeDocument/2006/relationships/tags" Target="../tags/tag26.xml"/><Relationship Id="rId34" Type="http://schemas.openxmlformats.org/officeDocument/2006/relationships/tags" Target="../tags/tag25.xml"/><Relationship Id="rId33" Type="http://schemas.openxmlformats.org/officeDocument/2006/relationships/tags" Target="../tags/tag24.xml"/><Relationship Id="rId32" Type="http://schemas.openxmlformats.org/officeDocument/2006/relationships/tags" Target="../tags/tag23.xml"/><Relationship Id="rId31" Type="http://schemas.openxmlformats.org/officeDocument/2006/relationships/tags" Target="../tags/tag22.xml"/><Relationship Id="rId30" Type="http://schemas.openxmlformats.org/officeDocument/2006/relationships/image" Target="../media/image20.svg"/><Relationship Id="rId3" Type="http://schemas.openxmlformats.org/officeDocument/2006/relationships/tags" Target="../tags/tag2.xml"/><Relationship Id="rId29" Type="http://schemas.openxmlformats.org/officeDocument/2006/relationships/image" Target="../media/image19.png"/><Relationship Id="rId28" Type="http://schemas.openxmlformats.org/officeDocument/2006/relationships/tags" Target="../tags/tag21.xml"/><Relationship Id="rId27" Type="http://schemas.openxmlformats.org/officeDocument/2006/relationships/tags" Target="../tags/tag20.xml"/><Relationship Id="rId26" Type="http://schemas.openxmlformats.org/officeDocument/2006/relationships/tags" Target="../tags/tag19.xml"/><Relationship Id="rId25" Type="http://schemas.openxmlformats.org/officeDocument/2006/relationships/tags" Target="../tags/tag18.xml"/><Relationship Id="rId24" Type="http://schemas.openxmlformats.org/officeDocument/2006/relationships/tags" Target="../tags/tag17.xml"/><Relationship Id="rId23" Type="http://schemas.openxmlformats.org/officeDocument/2006/relationships/tags" Target="../tags/tag16.xml"/><Relationship Id="rId22" Type="http://schemas.openxmlformats.org/officeDocument/2006/relationships/image" Target="../media/image18.svg"/><Relationship Id="rId21" Type="http://schemas.openxmlformats.org/officeDocument/2006/relationships/image" Target="../media/image17.png"/><Relationship Id="rId20" Type="http://schemas.openxmlformats.org/officeDocument/2006/relationships/tags" Target="../tags/tag15.xml"/><Relationship Id="rId2" Type="http://schemas.openxmlformats.org/officeDocument/2006/relationships/tags" Target="../tags/tag1.xml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5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7" Type="http://schemas.openxmlformats.org/officeDocument/2006/relationships/notesSlide" Target="../notesSlides/notesSlide4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54.xml"/><Relationship Id="rId24" Type="http://schemas.openxmlformats.org/officeDocument/2006/relationships/tags" Target="../tags/tag53.xml"/><Relationship Id="rId23" Type="http://schemas.openxmlformats.org/officeDocument/2006/relationships/tags" Target="../tags/tag52.xml"/><Relationship Id="rId22" Type="http://schemas.openxmlformats.org/officeDocument/2006/relationships/tags" Target="../tags/tag51.xml"/><Relationship Id="rId21" Type="http://schemas.openxmlformats.org/officeDocument/2006/relationships/image" Target="../media/image31.svg"/><Relationship Id="rId20" Type="http://schemas.openxmlformats.org/officeDocument/2006/relationships/image" Target="../media/image30.png"/><Relationship Id="rId2" Type="http://schemas.openxmlformats.org/officeDocument/2006/relationships/tags" Target="../tags/tag37.xml"/><Relationship Id="rId19" Type="http://schemas.openxmlformats.org/officeDocument/2006/relationships/tags" Target="../tags/tag50.xml"/><Relationship Id="rId18" Type="http://schemas.openxmlformats.org/officeDocument/2006/relationships/tags" Target="../tags/tag49.xml"/><Relationship Id="rId17" Type="http://schemas.openxmlformats.org/officeDocument/2006/relationships/tags" Target="../tags/tag4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image" Target="../media/image29.svg"/><Relationship Id="rId13" Type="http://schemas.openxmlformats.org/officeDocument/2006/relationships/image" Target="../media/image28.png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ags" Target="../tags/tag57.xml"/><Relationship Id="rId30" Type="http://schemas.openxmlformats.org/officeDocument/2006/relationships/notesSlide" Target="../notesSlides/notesSlide6.xml"/><Relationship Id="rId3" Type="http://schemas.openxmlformats.org/officeDocument/2006/relationships/tags" Target="../tags/tag56.xml"/><Relationship Id="rId29" Type="http://schemas.openxmlformats.org/officeDocument/2006/relationships/slideLayout" Target="../slideLayouts/slideLayout12.xml"/><Relationship Id="rId28" Type="http://schemas.openxmlformats.org/officeDocument/2006/relationships/tags" Target="../tags/tag75.xml"/><Relationship Id="rId27" Type="http://schemas.openxmlformats.org/officeDocument/2006/relationships/tags" Target="../tags/tag74.xml"/><Relationship Id="rId26" Type="http://schemas.openxmlformats.org/officeDocument/2006/relationships/tags" Target="../tags/tag73.xml"/><Relationship Id="rId25" Type="http://schemas.openxmlformats.org/officeDocument/2006/relationships/tags" Target="../tags/tag72.xml"/><Relationship Id="rId24" Type="http://schemas.openxmlformats.org/officeDocument/2006/relationships/image" Target="../media/image35.svg"/><Relationship Id="rId23" Type="http://schemas.openxmlformats.org/officeDocument/2006/relationships/image" Target="../media/image34.png"/><Relationship Id="rId22" Type="http://schemas.openxmlformats.org/officeDocument/2006/relationships/tags" Target="../tags/tag71.xml"/><Relationship Id="rId21" Type="http://schemas.openxmlformats.org/officeDocument/2006/relationships/tags" Target="../tags/tag70.xml"/><Relationship Id="rId20" Type="http://schemas.openxmlformats.org/officeDocument/2006/relationships/tags" Target="../tags/tag69.xml"/><Relationship Id="rId2" Type="http://schemas.openxmlformats.org/officeDocument/2006/relationships/tags" Target="../tags/tag55.xml"/><Relationship Id="rId19" Type="http://schemas.openxmlformats.org/officeDocument/2006/relationships/tags" Target="../tags/tag68.xml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image" Target="../media/image33.svg"/><Relationship Id="rId14" Type="http://schemas.openxmlformats.org/officeDocument/2006/relationships/image" Target="../media/image32.png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5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36.webp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6.svg"/><Relationship Id="rId11" Type="http://schemas.openxmlformats.org/officeDocument/2006/relationships/image" Target="../media/image45.png"/><Relationship Id="rId10" Type="http://schemas.openxmlformats.org/officeDocument/2006/relationships/image" Target="../media/image44.svg"/><Relationship Id="rId1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5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tags" Target="../tags/tag78.xml"/><Relationship Id="rId39" Type="http://schemas.openxmlformats.org/officeDocument/2006/relationships/notesSlide" Target="../notesSlides/notesSlide10.xml"/><Relationship Id="rId38" Type="http://schemas.openxmlformats.org/officeDocument/2006/relationships/slideLayout" Target="../slideLayouts/slideLayout12.xml"/><Relationship Id="rId37" Type="http://schemas.openxmlformats.org/officeDocument/2006/relationships/image" Target="../media/image57.jpeg"/><Relationship Id="rId36" Type="http://schemas.openxmlformats.org/officeDocument/2006/relationships/tags" Target="../tags/tag100.xml"/><Relationship Id="rId35" Type="http://schemas.openxmlformats.org/officeDocument/2006/relationships/tags" Target="../tags/tag99.xml"/><Relationship Id="rId34" Type="http://schemas.openxmlformats.org/officeDocument/2006/relationships/image" Target="../media/image56.svg"/><Relationship Id="rId33" Type="http://schemas.openxmlformats.org/officeDocument/2006/relationships/image" Target="../media/image55.png"/><Relationship Id="rId32" Type="http://schemas.openxmlformats.org/officeDocument/2006/relationships/tags" Target="../tags/tag98.xml"/><Relationship Id="rId31" Type="http://schemas.openxmlformats.org/officeDocument/2006/relationships/tags" Target="../tags/tag97.xml"/><Relationship Id="rId30" Type="http://schemas.openxmlformats.org/officeDocument/2006/relationships/tags" Target="../tags/tag96.xml"/><Relationship Id="rId3" Type="http://schemas.openxmlformats.org/officeDocument/2006/relationships/tags" Target="../tags/tag77.xml"/><Relationship Id="rId29" Type="http://schemas.openxmlformats.org/officeDocument/2006/relationships/tags" Target="../tags/tag95.xml"/><Relationship Id="rId28" Type="http://schemas.openxmlformats.org/officeDocument/2006/relationships/tags" Target="../tags/tag94.xml"/><Relationship Id="rId27" Type="http://schemas.openxmlformats.org/officeDocument/2006/relationships/image" Target="../media/image54.svg"/><Relationship Id="rId26" Type="http://schemas.openxmlformats.org/officeDocument/2006/relationships/image" Target="../media/image53.png"/><Relationship Id="rId25" Type="http://schemas.openxmlformats.org/officeDocument/2006/relationships/tags" Target="../tags/tag93.xml"/><Relationship Id="rId24" Type="http://schemas.openxmlformats.org/officeDocument/2006/relationships/tags" Target="../tags/tag92.xml"/><Relationship Id="rId23" Type="http://schemas.openxmlformats.org/officeDocument/2006/relationships/tags" Target="../tags/tag91.xml"/><Relationship Id="rId22" Type="http://schemas.openxmlformats.org/officeDocument/2006/relationships/tags" Target="../tags/tag90.xml"/><Relationship Id="rId21" Type="http://schemas.openxmlformats.org/officeDocument/2006/relationships/tags" Target="../tags/tag89.xml"/><Relationship Id="rId20" Type="http://schemas.openxmlformats.org/officeDocument/2006/relationships/image" Target="../media/image52.svg"/><Relationship Id="rId2" Type="http://schemas.openxmlformats.org/officeDocument/2006/relationships/tags" Target="../tags/tag76.xml"/><Relationship Id="rId19" Type="http://schemas.openxmlformats.org/officeDocument/2006/relationships/image" Target="../media/image51.png"/><Relationship Id="rId18" Type="http://schemas.openxmlformats.org/officeDocument/2006/relationships/tags" Target="../tags/tag88.xml"/><Relationship Id="rId17" Type="http://schemas.openxmlformats.org/officeDocument/2006/relationships/tags" Target="../tags/tag87.xml"/><Relationship Id="rId16" Type="http://schemas.openxmlformats.org/officeDocument/2006/relationships/tags" Target="../tags/tag86.xml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image" Target="../media/image50.svg"/><Relationship Id="rId12" Type="http://schemas.openxmlformats.org/officeDocument/2006/relationships/image" Target="../media/image49.png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image" Target="../media/image59.svg"/><Relationship Id="rId4" Type="http://schemas.openxmlformats.org/officeDocument/2006/relationships/image" Target="../media/image58.png"/><Relationship Id="rId3" Type="http://schemas.openxmlformats.org/officeDocument/2006/relationships/tags" Target="../tags/tag102.xml"/><Relationship Id="rId27" Type="http://schemas.openxmlformats.org/officeDocument/2006/relationships/notesSlide" Target="../notesSlides/notesSlide12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118.xml"/><Relationship Id="rId24" Type="http://schemas.openxmlformats.org/officeDocument/2006/relationships/tags" Target="../tags/tag117.xml"/><Relationship Id="rId23" Type="http://schemas.openxmlformats.org/officeDocument/2006/relationships/tags" Target="../tags/tag116.xml"/><Relationship Id="rId22" Type="http://schemas.openxmlformats.org/officeDocument/2006/relationships/tags" Target="../tags/tag115.xml"/><Relationship Id="rId21" Type="http://schemas.openxmlformats.org/officeDocument/2006/relationships/tags" Target="../tags/tag114.xml"/><Relationship Id="rId20" Type="http://schemas.openxmlformats.org/officeDocument/2006/relationships/image" Target="../media/image63.svg"/><Relationship Id="rId2" Type="http://schemas.openxmlformats.org/officeDocument/2006/relationships/tags" Target="../tags/tag101.xml"/><Relationship Id="rId19" Type="http://schemas.openxmlformats.org/officeDocument/2006/relationships/image" Target="../media/image62.png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image" Target="../media/image61.svg"/><Relationship Id="rId12" Type="http://schemas.openxmlformats.org/officeDocument/2006/relationships/image" Target="../media/image60.png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3" Type="http://schemas.openxmlformats.org/officeDocument/2006/relationships/notesSlide" Target="../notesSlides/notesSlide14.xml"/><Relationship Id="rId42" Type="http://schemas.openxmlformats.org/officeDocument/2006/relationships/slideLayout" Target="../slideLayouts/slideLayout12.xml"/><Relationship Id="rId41" Type="http://schemas.openxmlformats.org/officeDocument/2006/relationships/tags" Target="../tags/tag148.xml"/><Relationship Id="rId40" Type="http://schemas.openxmlformats.org/officeDocument/2006/relationships/tags" Target="../tags/tag147.xml"/><Relationship Id="rId4" Type="http://schemas.openxmlformats.org/officeDocument/2006/relationships/tags" Target="../tags/tag121.xml"/><Relationship Id="rId39" Type="http://schemas.openxmlformats.org/officeDocument/2006/relationships/image" Target="../media/image73.svg"/><Relationship Id="rId38" Type="http://schemas.openxmlformats.org/officeDocument/2006/relationships/image" Target="../media/image72.png"/><Relationship Id="rId37" Type="http://schemas.openxmlformats.org/officeDocument/2006/relationships/tags" Target="../tags/tag146.xml"/><Relationship Id="rId36" Type="http://schemas.openxmlformats.org/officeDocument/2006/relationships/tags" Target="../tags/tag145.xml"/><Relationship Id="rId35" Type="http://schemas.openxmlformats.org/officeDocument/2006/relationships/tags" Target="../tags/tag144.xml"/><Relationship Id="rId34" Type="http://schemas.openxmlformats.org/officeDocument/2006/relationships/tags" Target="../tags/tag143.xml"/><Relationship Id="rId33" Type="http://schemas.openxmlformats.org/officeDocument/2006/relationships/tags" Target="../tags/tag142.xml"/><Relationship Id="rId32" Type="http://schemas.openxmlformats.org/officeDocument/2006/relationships/image" Target="../media/image71.svg"/><Relationship Id="rId31" Type="http://schemas.openxmlformats.org/officeDocument/2006/relationships/image" Target="../media/image70.png"/><Relationship Id="rId30" Type="http://schemas.openxmlformats.org/officeDocument/2006/relationships/tags" Target="../tags/tag141.xml"/><Relationship Id="rId3" Type="http://schemas.openxmlformats.org/officeDocument/2006/relationships/tags" Target="../tags/tag120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image" Target="../media/image69.svg"/><Relationship Id="rId24" Type="http://schemas.openxmlformats.org/officeDocument/2006/relationships/image" Target="../media/image68.png"/><Relationship Id="rId23" Type="http://schemas.openxmlformats.org/officeDocument/2006/relationships/tags" Target="../tags/tag136.xml"/><Relationship Id="rId22" Type="http://schemas.openxmlformats.org/officeDocument/2006/relationships/tags" Target="../tags/tag135.xml"/><Relationship Id="rId21" Type="http://schemas.openxmlformats.org/officeDocument/2006/relationships/tags" Target="../tags/tag134.xml"/><Relationship Id="rId20" Type="http://schemas.openxmlformats.org/officeDocument/2006/relationships/tags" Target="../tags/tag133.xml"/><Relationship Id="rId2" Type="http://schemas.openxmlformats.org/officeDocument/2006/relationships/tags" Target="../tags/tag119.xml"/><Relationship Id="rId19" Type="http://schemas.openxmlformats.org/officeDocument/2006/relationships/tags" Target="../tags/tag132.xml"/><Relationship Id="rId18" Type="http://schemas.openxmlformats.org/officeDocument/2006/relationships/tags" Target="../tags/tag131.xml"/><Relationship Id="rId17" Type="http://schemas.openxmlformats.org/officeDocument/2006/relationships/tags" Target="../tags/tag130.xml"/><Relationship Id="rId16" Type="http://schemas.openxmlformats.org/officeDocument/2006/relationships/tags" Target="../tags/tag129.xml"/><Relationship Id="rId15" Type="http://schemas.openxmlformats.org/officeDocument/2006/relationships/tags" Target="../tags/tag128.xml"/><Relationship Id="rId14" Type="http://schemas.openxmlformats.org/officeDocument/2006/relationships/tags" Target="../tags/tag127.xml"/><Relationship Id="rId13" Type="http://schemas.openxmlformats.org/officeDocument/2006/relationships/image" Target="../media/image67.svg"/><Relationship Id="rId12" Type="http://schemas.openxmlformats.org/officeDocument/2006/relationships/image" Target="../media/image66.png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汉仪魏碑简" panose="02010600000101010101" charset="-128"/>
              <a:ea typeface="汉仪魏碑简" panose="02010600000101010101" charset="-128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16000" y="158115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FFFF"/>
                </a:solidFill>
                <a:latin typeface="汉仪魏碑简" panose="02010600000101010101" charset="-128"/>
                <a:ea typeface="汉仪魏碑简" panose="02010600000101010101" charset="-128"/>
                <a:cs typeface="Noto Sans SC" panose="020B0200000000000000" charset="-122"/>
                <a:sym typeface="Noto Sans SC" panose="020B0200000000000000" charset="-122"/>
              </a:rPr>
              <a:t>学生成绩管理系统</a:t>
            </a:r>
            <a:endParaRPr lang="en-US" sz="9600" b="1" i="0" u="none" strike="noStrike">
              <a:solidFill>
                <a:srgbClr val="FFFFFF"/>
              </a:solidFill>
              <a:latin typeface="汉仪魏碑简" panose="02010600000101010101" charset="-128"/>
              <a:ea typeface="汉仪魏碑简" panose="02010600000101010101" charset="-128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16000" y="2980055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0" i="0" u="none" strike="noStrike" spc="200">
                <a:solidFill>
                  <a:srgbClr val="FFFFFF">
                    <a:alpha val="90196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汉仪魏碑简" panose="02010600000101010101" charset="-128"/>
                <a:sym typeface="Noto Sans SC" panose="020B0200000000000000" charset="-122"/>
              </a:rPr>
              <a:t>PROJECT PROPOSAL DEFENSE | 项目开题汇报</a:t>
            </a:r>
            <a:endParaRPr lang="en-US" sz="2800" b="0" i="0" u="none" strike="noStrike" spc="200">
              <a:solidFill>
                <a:srgbClr val="FFFFFF">
                  <a:alpha val="90196"/>
                </a:srgbClr>
              </a:solidFill>
              <a:latin typeface="汉仪魏碑简" panose="02010600000101010101" charset="-128"/>
              <a:ea typeface="汉仪魏碑简" panose="02010600000101010101" charset="-128"/>
              <a:cs typeface="汉仪魏碑简" panose="02010600000101010101" charset="-128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4191000"/>
            <a:ext cx="10377805" cy="1960245"/>
          </a:xfrm>
          <a:prstGeom prst="roundRect">
            <a:avLst>
              <a:gd name="adj" fmla="val 12307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汉仪魏碑简" panose="02010600000101010101" charset="-128"/>
              <a:ea typeface="汉仪魏碑简" panose="02010600000101010101" charset="-128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8890" y="4490085"/>
            <a:ext cx="445135" cy="445135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17065" y="4565650"/>
            <a:ext cx="405511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70196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汉仪魏碑简" panose="02010600000101010101" charset="-128"/>
                <a:sym typeface="Noto Sans SC" panose="020B0200000000000000" charset="-122"/>
              </a:rPr>
              <a:t>汇报小组：</a:t>
            </a:r>
            <a:r>
              <a:rPr lang="en-US" sz="2400" b="1" i="0" u="none" strike="noStrike">
                <a:solidFill>
                  <a:srgbClr val="FFFFFF">
                    <a:alpha val="94902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汉仪魏碑简" panose="02010600000101010101" charset="-128"/>
                <a:sym typeface="Noto Sans SC" panose="020B0200000000000000" charset="-122"/>
              </a:rPr>
              <a:t>计算机学院 04 组</a:t>
            </a:r>
            <a:endParaRPr lang="en-US" sz="2400" b="1" i="0" u="none" strike="noStrike">
              <a:solidFill>
                <a:srgbClr val="FFFFFF">
                  <a:alpha val="94902"/>
                </a:srgbClr>
              </a:solidFill>
              <a:latin typeface="汉仪魏碑简" panose="02010600000101010101" charset="-128"/>
              <a:ea typeface="汉仪魏碑简" panose="02010600000101010101" charset="-128"/>
              <a:cs typeface="汉仪魏碑简" panose="02010600000101010101" charset="-128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8890" y="5334635"/>
            <a:ext cx="462915" cy="462915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17065" y="5378450"/>
            <a:ext cx="390017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70196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汉仪魏碑简" panose="02010600000101010101" charset="-128"/>
                <a:sym typeface="Noto Sans SC" panose="020B0200000000000000" charset="-122"/>
              </a:rPr>
              <a:t>组 长：</a:t>
            </a:r>
            <a:r>
              <a:rPr lang="en-US" sz="2400" b="0" i="0" u="none" strike="noStrike">
                <a:solidFill>
                  <a:srgbClr val="FFFFFF">
                    <a:alpha val="94902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汉仪魏碑简" panose="02010600000101010101" charset="-128"/>
                <a:sym typeface="Noto Sans SC" panose="020B0200000000000000" charset="-122"/>
              </a:rPr>
              <a:t>尹媛</a:t>
            </a:r>
            <a:endParaRPr lang="en-US" sz="2400" b="0" i="0" u="none" strike="noStrike">
              <a:solidFill>
                <a:srgbClr val="FFFFFF">
                  <a:alpha val="94902"/>
                </a:srgbClr>
              </a:solidFill>
              <a:latin typeface="汉仪魏碑简" panose="02010600000101010101" charset="-128"/>
              <a:ea typeface="汉仪魏碑简" panose="02010600000101010101" charset="-128"/>
              <a:cs typeface="汉仪魏碑简" panose="02010600000101010101" charset="-128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>
            <a:off x="6247130" y="4613910"/>
            <a:ext cx="4294" cy="130878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65265" y="4490085"/>
            <a:ext cx="405765" cy="405765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84720" y="4565650"/>
            <a:ext cx="501777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70196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汉仪魏碑简" panose="02010600000101010101" charset="-128"/>
                <a:sym typeface="Noto Sans SC" panose="020B0200000000000000" charset="-122"/>
              </a:rPr>
              <a:t>组 员：</a:t>
            </a: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汉仪魏碑简" panose="02010600000101010101" charset="-128"/>
                <a:sym typeface="Noto Sans SC" panose="020B0200000000000000" charset="-122"/>
              </a:rPr>
              <a:t>刘敏祺 </a:t>
            </a:r>
            <a:r>
              <a:rPr lang="zh-CN" altLang="en-US" sz="2400" b="0" i="0" u="none" strike="noStrike">
                <a:solidFill>
                  <a:srgbClr val="FFFFFF">
                    <a:alpha val="90196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汉仪魏碑简" panose="02010600000101010101" charset="-128"/>
                <a:sym typeface="Noto Sans SC" panose="020B0200000000000000" charset="-122"/>
              </a:rPr>
              <a:t>、</a:t>
            </a: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汉仪魏碑简" panose="02010600000101010101" charset="-128"/>
                <a:sym typeface="Noto Sans SC" panose="020B0200000000000000" charset="-122"/>
              </a:rPr>
              <a:t>朱宁</a:t>
            </a:r>
            <a:r>
              <a:rPr lang="zh-CN" altLang="en-US" sz="2400" b="0" i="0" u="none" strike="noStrike">
                <a:solidFill>
                  <a:srgbClr val="FFFFFF">
                    <a:alpha val="90196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汉仪魏碑简" panose="02010600000101010101" charset="-128"/>
                <a:sym typeface="Noto Sans SC" panose="020B0200000000000000" charset="-122"/>
              </a:rPr>
              <a:t>静、</a:t>
            </a:r>
            <a:endParaRPr lang="en-US" sz="2400" b="0" i="0" u="none" strike="noStrike">
              <a:solidFill>
                <a:srgbClr val="FFFFFF">
                  <a:alpha val="90196"/>
                </a:srgbClr>
              </a:solidFill>
              <a:latin typeface="汉仪魏碑简" panose="02010600000101010101" charset="-128"/>
              <a:ea typeface="汉仪魏碑简" panose="02010600000101010101" charset="-128"/>
              <a:cs typeface="汉仪魏碑简" panose="02010600000101010101" charset="-128"/>
              <a:sym typeface="Noto Sans SC" panose="020B0200000000000000" charset="-122"/>
            </a:endParaRPr>
          </a:p>
          <a:p>
            <a:pPr marL="457200" lvl="1" indent="45720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汉仪魏碑简" panose="02010600000101010101" charset="-128"/>
                <a:sym typeface="Noto Sans SC" panose="020B0200000000000000" charset="-122"/>
              </a:rPr>
              <a:t> 崔慧敏 </a:t>
            </a:r>
            <a:r>
              <a:rPr lang="zh-CN" altLang="en-US" sz="2400" b="0" i="0" u="none" strike="noStrike">
                <a:solidFill>
                  <a:srgbClr val="FFFFFF">
                    <a:alpha val="90196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汉仪魏碑简" panose="02010600000101010101" charset="-128"/>
                <a:sym typeface="Noto Sans SC" panose="020B0200000000000000" charset="-122"/>
              </a:rPr>
              <a:t>、</a:t>
            </a: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汉仪魏碑简" panose="02010600000101010101" charset="-128"/>
                <a:sym typeface="Noto Sans SC" panose="020B0200000000000000" charset="-122"/>
              </a:rPr>
              <a:t>詹淦栩</a:t>
            </a:r>
            <a:endParaRPr lang="en-US" sz="2400" b="0" i="0" u="none" strike="noStrike">
              <a:solidFill>
                <a:srgbClr val="FFFFFF">
                  <a:alpha val="90196"/>
                </a:srgbClr>
              </a:solidFill>
              <a:latin typeface="汉仪魏碑简" panose="02010600000101010101" charset="-128"/>
              <a:ea typeface="汉仪魏碑简" panose="02010600000101010101" charset="-128"/>
              <a:cs typeface="汉仪魏碑简" panose="02010600000101010101" charset="-128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88125" y="5361305"/>
            <a:ext cx="468630" cy="46863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284720" y="5481320"/>
            <a:ext cx="256730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70196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汉仪魏碑简" panose="02010600000101010101" charset="-128"/>
                <a:sym typeface="Noto Sans SC" panose="020B0200000000000000" charset="-122"/>
              </a:rPr>
              <a:t>指导</a:t>
            </a:r>
            <a:r>
              <a:rPr lang="zh-CN" altLang="en-US" sz="2400" b="0" i="0" u="none" strike="noStrike">
                <a:solidFill>
                  <a:srgbClr val="FFFFFF">
                    <a:alpha val="70196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汉仪魏碑简" panose="02010600000101010101" charset="-128"/>
                <a:sym typeface="Noto Sans SC" panose="020B0200000000000000" charset="-122"/>
              </a:rPr>
              <a:t>老师</a:t>
            </a:r>
            <a:r>
              <a:rPr lang="en-US" sz="2400" b="0" i="0" u="none" strike="noStrike">
                <a:solidFill>
                  <a:srgbClr val="FFFFFF">
                    <a:alpha val="70196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汉仪魏碑简" panose="02010600000101010101" charset="-128"/>
                <a:sym typeface="Noto Sans SC" panose="020B0200000000000000" charset="-122"/>
              </a:rPr>
              <a:t>：</a:t>
            </a: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汉仪魏碑简" panose="02010600000101010101" charset="-128"/>
                <a:sym typeface="Noto Sans SC" panose="020B0200000000000000" charset="-122"/>
              </a:rPr>
              <a:t>尹兆远 </a:t>
            </a:r>
            <a:endParaRPr lang="en-US" sz="2400" b="0" i="0" u="none" strike="noStrike">
              <a:solidFill>
                <a:srgbClr val="FFFFFF">
                  <a:alpha val="90196"/>
                </a:srgbClr>
              </a:solidFill>
              <a:latin typeface="汉仪魏碑简" panose="02010600000101010101" charset="-128"/>
              <a:ea typeface="汉仪魏碑简" panose="02010600000101010101" charset="-128"/>
              <a:cs typeface="汉仪魏碑简" panose="02010600000101010101" charset="-128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05250" y="5361305"/>
            <a:ext cx="424815" cy="424815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436745" y="5273675"/>
            <a:ext cx="1631950" cy="58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汉仪魏碑简" panose="02010600000101010101" charset="-128"/>
                <a:ea typeface="汉仪魏碑简" panose="02010600000101010101" charset="-128"/>
                <a:cs typeface="Noto Sans SC" panose="020B0200000000000000" charset="-122"/>
                <a:sym typeface="Noto Sans SC" panose="020B0200000000000000" charset="-122"/>
              </a:rPr>
              <a:t>2026.04.24</a:t>
            </a:r>
            <a:endParaRPr lang="en-US" sz="2400" b="0" i="0" u="none" strike="noStrike">
              <a:solidFill>
                <a:srgbClr val="FFFFFF">
                  <a:alpha val="90196"/>
                </a:srgbClr>
              </a:solidFill>
              <a:latin typeface="汉仪魏碑简" panose="02010600000101010101" charset="-128"/>
              <a:ea typeface="汉仪魏碑简" panose="02010600000101010101" charset="-128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16890"/>
            <a:ext cx="552386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目录</a:t>
            </a:r>
            <a:r>
              <a:rPr lang="en-US" sz="5400" b="1" i="0" u="none" strike="noStrike">
                <a:solidFill>
                  <a:srgbClr val="FFFFFF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 </a:t>
            </a:r>
            <a:r>
              <a:rPr lang="en-US" sz="4400" b="1" i="0" u="none" strike="noStrike">
                <a:solidFill>
                  <a:srgbClr val="FFFFFF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CONTENTS</a:t>
            </a:r>
            <a:endParaRPr lang="en-US" sz="4400" b="1" i="0" u="none" strike="noStrike">
              <a:solidFill>
                <a:srgbClr val="FFFFFF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70890" y="149733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024890" y="1814830"/>
            <a:ext cx="762000" cy="762000"/>
          </a:xfrm>
          <a:prstGeom prst="ellipse">
            <a:avLst/>
          </a:prstGeom>
          <a:solidFill>
            <a:srgbClr val="3B82F6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2690" y="199263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977390" y="164211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0A5FA"/>
                </a:solidFill>
                <a:highlight>
                  <a:srgbClr val="FFFFFF">
                    <a:alpha val="0"/>
                  </a:srgbClr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4800" b="1" i="0" u="none" strike="noStrike">
              <a:solidFill>
                <a:srgbClr val="60A5FA"/>
              </a:solidFill>
              <a:highlight>
                <a:srgbClr val="FFFFFF">
                  <a:alpha val="0"/>
                </a:srgbClr>
              </a:highlight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2929890" y="1671955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项目背景</a:t>
            </a:r>
            <a:endParaRPr lang="en-US" sz="2400" b="1" i="0" u="none" strike="noStrike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2929890" y="215773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70196"/>
                  </a:srgbClr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传统模式的困境与数字化转型探索</a:t>
            </a:r>
            <a:endParaRPr lang="en-US" sz="2000" b="0" i="0" u="none" strike="noStrike">
              <a:solidFill>
                <a:srgbClr val="FFFFFF">
                  <a:alpha val="70196"/>
                </a:srgbClr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770890" y="314833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1024890" y="3465830"/>
            <a:ext cx="762000" cy="762000"/>
          </a:xfrm>
          <a:prstGeom prst="ellipse">
            <a:avLst/>
          </a:prstGeom>
          <a:solidFill>
            <a:srgbClr val="3B82F6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02690" y="364363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1977390" y="334772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0A5FA"/>
                </a:solidFill>
                <a:highlight>
                  <a:srgbClr val="FFFFFF">
                    <a:alpha val="0"/>
                  </a:srgbClr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4800" b="1" i="0" u="none" strike="noStrike">
              <a:solidFill>
                <a:srgbClr val="60A5FA"/>
              </a:solidFill>
              <a:highlight>
                <a:srgbClr val="FFFFFF">
                  <a:alpha val="0"/>
                </a:srgbClr>
              </a:highlight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2929890" y="326263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核心功能</a:t>
            </a:r>
            <a:endParaRPr lang="en-US" sz="2400" b="1" i="0" u="none" strike="noStrike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2929890" y="380873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70196"/>
                  </a:srgbClr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基于三类角色的全流程功能闭环设计</a:t>
            </a:r>
            <a:endParaRPr lang="en-US" sz="2000" b="0" i="0" u="none" strike="noStrike">
              <a:solidFill>
                <a:srgbClr val="FFFFFF">
                  <a:alpha val="70196"/>
                </a:srgbClr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770890" y="479933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1024890" y="5116830"/>
            <a:ext cx="762000" cy="762000"/>
          </a:xfrm>
          <a:prstGeom prst="ellipse">
            <a:avLst/>
          </a:prstGeom>
          <a:solidFill>
            <a:srgbClr val="3B82F6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202690" y="529463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1977390" y="502793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0A5FA"/>
                </a:solidFill>
                <a:highlight>
                  <a:srgbClr val="FFFFFF">
                    <a:alpha val="0"/>
                  </a:srgbClr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4800" b="1" i="0" u="none" strike="noStrike">
              <a:solidFill>
                <a:srgbClr val="60A5FA"/>
              </a:solidFill>
              <a:highlight>
                <a:srgbClr val="FFFFFF">
                  <a:alpha val="0"/>
                </a:srgbClr>
              </a:highlight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2929890" y="491363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技术架构</a:t>
            </a:r>
            <a:endParaRPr lang="en-US" sz="2400" b="1" i="0" u="none" strike="noStrike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2929890" y="545973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70196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B/S分布式模式与主流前后端技术栈</a:t>
            </a:r>
            <a:endParaRPr lang="en-US" sz="2000" b="0" i="0" u="none" strike="noStrike">
              <a:solidFill>
                <a:srgbClr val="FFFFFF">
                  <a:alpha val="70196"/>
                </a:srgb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6231890" y="149733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27"/>
            </p:custDataLst>
          </p:nvPr>
        </p:nvSpPr>
        <p:spPr>
          <a:xfrm>
            <a:off x="6485890" y="1814830"/>
            <a:ext cx="762000" cy="762000"/>
          </a:xfrm>
          <a:prstGeom prst="ellipse">
            <a:avLst/>
          </a:prstGeom>
          <a:solidFill>
            <a:srgbClr val="3B82F6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663690" y="199263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31"/>
            </p:custDataLst>
          </p:nvPr>
        </p:nvSpPr>
        <p:spPr>
          <a:xfrm>
            <a:off x="7438390" y="168783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0A5FA"/>
                </a:solidFill>
                <a:highlight>
                  <a:srgbClr val="FFFFFF">
                    <a:alpha val="0"/>
                  </a:srgbClr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32"/>
            </p:custDataLst>
          </p:nvPr>
        </p:nvSpPr>
        <p:spPr>
          <a:xfrm>
            <a:off x="8390890" y="1671955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数据库设计</a:t>
            </a:r>
            <a:endParaRPr lang="en-US" sz="2400" b="1" i="0" u="none" strike="noStrike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>
            <p:custDataLst>
              <p:tags r:id="rId33"/>
            </p:custDataLst>
          </p:nvPr>
        </p:nvSpPr>
        <p:spPr>
          <a:xfrm>
            <a:off x="8390890" y="215773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70196"/>
                  </a:srgbClr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核心实体关系与表结构</a:t>
            </a:r>
            <a:endParaRPr lang="en-US" sz="2000" b="0" i="0" u="none" strike="noStrike">
              <a:solidFill>
                <a:srgbClr val="FFFFFF">
                  <a:alpha val="70196"/>
                </a:srgbClr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>
            <p:custDataLst>
              <p:tags r:id="rId34"/>
            </p:custDataLst>
          </p:nvPr>
        </p:nvSpPr>
        <p:spPr>
          <a:xfrm>
            <a:off x="6231890" y="314833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>
            <p:custDataLst>
              <p:tags r:id="rId35"/>
            </p:custDataLst>
          </p:nvPr>
        </p:nvSpPr>
        <p:spPr>
          <a:xfrm>
            <a:off x="6485890" y="3465830"/>
            <a:ext cx="762000" cy="762000"/>
          </a:xfrm>
          <a:prstGeom prst="ellipse">
            <a:avLst/>
          </a:prstGeom>
          <a:solidFill>
            <a:srgbClr val="3B82F6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663690" y="364363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>
            <p:custDataLst>
              <p:tags r:id="rId39"/>
            </p:custDataLst>
          </p:nvPr>
        </p:nvSpPr>
        <p:spPr>
          <a:xfrm>
            <a:off x="7501890" y="337058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0A5FA"/>
                </a:solidFill>
                <a:highlight>
                  <a:srgbClr val="FFFFFF">
                    <a:alpha val="0"/>
                  </a:srgbClr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2" name="AutoShape 32"/>
          <p:cNvSpPr/>
          <p:nvPr>
            <p:custDataLst>
              <p:tags r:id="rId40"/>
            </p:custDataLst>
          </p:nvPr>
        </p:nvSpPr>
        <p:spPr>
          <a:xfrm>
            <a:off x="8390890" y="331978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开发规划</a:t>
            </a:r>
            <a:endParaRPr lang="en-US" sz="2400" b="1" i="0" u="none" strike="noStrike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>
            <p:custDataLst>
              <p:tags r:id="rId41"/>
            </p:custDataLst>
          </p:nvPr>
        </p:nvSpPr>
        <p:spPr>
          <a:xfrm>
            <a:off x="8390890" y="380873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70196"/>
                  </a:srgbClr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项目时间轴与阶段任务分解</a:t>
            </a:r>
            <a:endParaRPr lang="en-US" sz="2000" b="0" i="0" u="none" strike="noStrike">
              <a:solidFill>
                <a:srgbClr val="FFFFFF">
                  <a:alpha val="70196"/>
                </a:srgbClr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>
            <p:custDataLst>
              <p:tags r:id="rId42"/>
            </p:custDataLst>
          </p:nvPr>
        </p:nvSpPr>
        <p:spPr>
          <a:xfrm>
            <a:off x="6231890" y="479933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>
            <p:custDataLst>
              <p:tags r:id="rId43"/>
            </p:custDataLst>
          </p:nvPr>
        </p:nvSpPr>
        <p:spPr>
          <a:xfrm>
            <a:off x="6485890" y="5116830"/>
            <a:ext cx="762000" cy="762000"/>
          </a:xfrm>
          <a:prstGeom prst="ellipse">
            <a:avLst/>
          </a:prstGeom>
          <a:solidFill>
            <a:srgbClr val="3B82F6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6663690" y="5294630"/>
            <a:ext cx="406400" cy="406400"/>
          </a:xfrm>
          <a:prstGeom prst="rect">
            <a:avLst/>
          </a:prstGeom>
        </p:spPr>
      </p:pic>
      <p:sp>
        <p:nvSpPr>
          <p:cNvPr id="37" name="AutoShape 37"/>
          <p:cNvSpPr/>
          <p:nvPr>
            <p:custDataLst>
              <p:tags r:id="rId47"/>
            </p:custDataLst>
          </p:nvPr>
        </p:nvSpPr>
        <p:spPr>
          <a:xfrm>
            <a:off x="7501890" y="491363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4800" b="1" i="0" u="none" strike="noStrike">
              <a:solidFill>
                <a:srgbClr val="60A5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8" name="AutoShape 38"/>
          <p:cNvSpPr/>
          <p:nvPr>
            <p:custDataLst>
              <p:tags r:id="rId48"/>
            </p:custDataLst>
          </p:nvPr>
        </p:nvSpPr>
        <p:spPr>
          <a:xfrm>
            <a:off x="8390890" y="502793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团队协作</a:t>
            </a:r>
            <a:endParaRPr lang="en-US" sz="2400" b="1" i="0" u="none" strike="noStrike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39"/>
          <p:cNvSpPr/>
          <p:nvPr>
            <p:custDataLst>
              <p:tags r:id="rId49"/>
            </p:custDataLst>
          </p:nvPr>
        </p:nvSpPr>
        <p:spPr>
          <a:xfrm>
            <a:off x="8390890" y="545973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70196"/>
                  </a:srgbClr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成员职责与协作方式</a:t>
            </a:r>
            <a:endParaRPr lang="en-US" sz="2000" b="0" i="0" u="none" strike="noStrike">
              <a:solidFill>
                <a:srgbClr val="FFFFFF">
                  <a:alpha val="70196"/>
                </a:srgbClr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70205" y="198120"/>
            <a:ext cx="1925955" cy="6348095"/>
          </a:xfrm>
          <a:prstGeom prst="rect">
            <a:avLst/>
          </a:prstGeom>
          <a:solidFill>
            <a:srgbClr val="292D2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AutoShape 2"/>
          <p:cNvSpPr/>
          <p:nvPr/>
        </p:nvSpPr>
        <p:spPr>
          <a:xfrm>
            <a:off x="2362835" y="0"/>
            <a:ext cx="9829165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05790" y="1708785"/>
            <a:ext cx="599440" cy="3326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</a:t>
            </a:r>
            <a:endParaRPr lang="en-US" sz="4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933315" y="2315210"/>
            <a:ext cx="6350000" cy="19469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6000" b="1" i="0" u="none" strike="noStrike">
                <a:solidFill>
                  <a:srgbClr val="FFFFFF">
                    <a:alpha val="90196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传统模式的困境与数字化转型</a:t>
            </a:r>
            <a:r>
              <a:rPr lang="zh-CN" altLang="en-US" sz="6000" b="1" i="0" u="none" strike="noStrike">
                <a:solidFill>
                  <a:srgbClr val="FFFFFF">
                    <a:alpha val="90196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探索</a:t>
            </a:r>
            <a:endParaRPr lang="zh-CN" altLang="en-US" sz="6000" b="1" i="0" u="none" strike="noStrike">
              <a:solidFill>
                <a:srgbClr val="FFFFFF">
                  <a:alpha val="90196"/>
                </a:srgbClr>
              </a:solidFill>
              <a:latin typeface="华文楷体" panose="02010600040101010101" charset="-122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835398" y="2085340"/>
            <a:ext cx="254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文本框 7"/>
          <p:cNvSpPr txBox="1"/>
          <p:nvPr/>
        </p:nvSpPr>
        <p:spPr>
          <a:xfrm>
            <a:off x="1325880" y="2157730"/>
            <a:ext cx="736600" cy="2631440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 BACKGROUND</a:t>
            </a:r>
            <a:endParaRPr lang="en-US" sz="1800"/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5151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华文新魏" panose="02010800040101010101" charset="-122"/>
                <a:ea typeface="华文新魏" panose="02010800040101010101" charset="-122"/>
                <a:cs typeface="Noto Sans SC" panose="020B0200000000000000" charset="-122"/>
                <a:sym typeface="Noto Sans SC" panose="020B0200000000000000" charset="-122"/>
              </a:rPr>
              <a:t>项目背景：传统模式的困境</a:t>
            </a:r>
            <a:endParaRPr lang="en-US" sz="6000" b="1" i="0" u="none" strike="noStrike">
              <a:solidFill>
                <a:srgbClr val="FFFFFF"/>
              </a:solidFill>
              <a:latin typeface="华文新魏" panose="02010800040101010101" charset="-122"/>
              <a:ea typeface="华文新魏" panose="020108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80415" y="176911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796415" y="2150110"/>
            <a:ext cx="1270000" cy="1270000"/>
          </a:xfrm>
          <a:prstGeom prst="ellipse">
            <a:avLst/>
          </a:prstGeom>
          <a:solidFill>
            <a:srgbClr val="06B6D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13915" y="246761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34415" y="367411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效率低下，耗时耗力</a:t>
            </a:r>
            <a:endParaRPr lang="en-US" sz="2400" b="1" i="0" u="none" strike="noStrike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 flipV="1">
            <a:off x="1452880" y="4290060"/>
            <a:ext cx="2049145" cy="360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1034415" y="452882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手动录入成绩工作量巨大，期末季成为教师沉重负担。</a:t>
            </a:r>
            <a:endParaRPr lang="en-US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统计分析繁琐，编写复杂公式易出错。</a:t>
            </a:r>
            <a:endParaRPr lang="en-US" sz="1800" b="0" i="0" u="none" strike="noStrike">
              <a:solidFill>
                <a:srgbClr val="E5E7EB">
                  <a:alpha val="80000"/>
                </a:srgb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463415" y="176911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5479415" y="2150110"/>
            <a:ext cx="1270000" cy="1270000"/>
          </a:xfrm>
          <a:prstGeom prst="ellipse">
            <a:avLst/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96915" y="246761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4717415" y="367411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数据冗余，易出错漏</a:t>
            </a:r>
            <a:endParaRPr lang="en-US" sz="2400" b="1" i="0" u="none" strike="noStrike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4717415" y="452882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手动录入易发生错误，如分数填错、信息匹配错误。</a:t>
            </a:r>
            <a:endParaRPr lang="en-US" sz="1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版本管理混乱，易导致数据不一致或丢失。</a:t>
            </a:r>
            <a:endParaRPr lang="en-US" sz="1800" b="0" i="0" u="none" strike="noStrike">
              <a:solidFill>
                <a:srgbClr val="E5E7EB">
                  <a:alpha val="80000"/>
                </a:srgb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8146415" y="176911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9162415" y="2150110"/>
            <a:ext cx="1270000" cy="1270000"/>
          </a:xfrm>
          <a:prstGeom prst="ellipse">
            <a:avLst/>
          </a:prstGeom>
          <a:solidFill>
            <a:srgbClr val="A855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479915" y="2467610"/>
            <a:ext cx="635000" cy="6350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8400415" y="367411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数据孤岛，共享困难</a:t>
            </a:r>
            <a:endParaRPr lang="en-US" sz="2400" b="1" i="0" u="none" strike="noStrike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23"/>
            </p:custDataLst>
          </p:nvPr>
        </p:nvSpPr>
        <p:spPr>
          <a:xfrm>
            <a:off x="8463915" y="452882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缺乏精细化权限控制，无法区分不同角色权限。</a:t>
            </a:r>
            <a:endParaRPr lang="en-US" sz="1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数据分散，不利于统一管理和分析。</a:t>
            </a:r>
            <a:endParaRPr lang="en-US" sz="1800" b="0" i="0" u="none" strike="noStrike">
              <a:solidFill>
                <a:srgbClr val="E5E7EB">
                  <a:alpha val="80000"/>
                </a:srgb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</p:txBody>
      </p:sp>
      <p:sp>
        <p:nvSpPr>
          <p:cNvPr id="22" name="AutoShape 8"/>
          <p:cNvSpPr/>
          <p:nvPr>
            <p:custDataLst>
              <p:tags r:id="rId24"/>
            </p:custDataLst>
          </p:nvPr>
        </p:nvSpPr>
        <p:spPr>
          <a:xfrm flipV="1">
            <a:off x="5089525" y="4274185"/>
            <a:ext cx="2049145" cy="3600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8"/>
          <p:cNvSpPr/>
          <p:nvPr>
            <p:custDataLst>
              <p:tags r:id="rId25"/>
            </p:custDataLst>
          </p:nvPr>
        </p:nvSpPr>
        <p:spPr>
          <a:xfrm flipV="1">
            <a:off x="8773160" y="4292600"/>
            <a:ext cx="2049145" cy="36000"/>
          </a:xfrm>
          <a:prstGeom prst="roundRect">
            <a:avLst>
              <a:gd name="adj" fmla="val 0"/>
            </a:avLst>
          </a:prstGeom>
          <a:solidFill>
            <a:srgbClr val="A855F7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70205" y="198120"/>
            <a:ext cx="1925955" cy="6348095"/>
          </a:xfrm>
          <a:prstGeom prst="rect">
            <a:avLst/>
          </a:prstGeom>
          <a:solidFill>
            <a:srgbClr val="292D2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AutoShape 2"/>
          <p:cNvSpPr/>
          <p:nvPr/>
        </p:nvSpPr>
        <p:spPr>
          <a:xfrm>
            <a:off x="2362835" y="0"/>
            <a:ext cx="9829165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05790" y="1624965"/>
            <a:ext cx="599440" cy="3326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</a:t>
            </a:r>
            <a:endParaRPr lang="zh-CN" altLang="en-US" sz="4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933315" y="2315210"/>
            <a:ext cx="6350000" cy="19469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8000"/>
              </a:lnSpc>
              <a:buSzTx/>
              <a:defRPr/>
            </a:pPr>
            <a:r>
              <a:rPr lang="en-US" sz="6000" b="1">
                <a:solidFill>
                  <a:srgbClr val="FFFFFF">
                    <a:alpha val="90196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基于三类角色的全流程功能闭环设计</a:t>
            </a:r>
            <a:endParaRPr lang="en-US" sz="6000" b="1" i="0" u="none" strike="noStrike">
              <a:solidFill>
                <a:srgbClr val="FFFFFF">
                  <a:alpha val="90196"/>
                </a:srgbClr>
              </a:solidFill>
              <a:latin typeface="华文楷体" panose="02010600040101010101" charset="-122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835398" y="2085340"/>
            <a:ext cx="254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8" name="文本框 7"/>
          <p:cNvSpPr txBox="1"/>
          <p:nvPr/>
        </p:nvSpPr>
        <p:spPr>
          <a:xfrm>
            <a:off x="1602740" y="2387600"/>
            <a:ext cx="459740" cy="2631440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FUNCTION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32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华文新魏" panose="02010800040101010101" charset="-122"/>
                <a:ea typeface="华文新魏" panose="02010800040101010101" charset="-122"/>
                <a:cs typeface="Noto Sans SC" panose="020B0200000000000000" charset="-122"/>
                <a:sym typeface="Noto Sans SC" panose="020B0200000000000000" charset="-122"/>
              </a:rPr>
              <a:t>核心功能：三类角色功能闭环</a:t>
            </a:r>
            <a:endParaRPr lang="en-US" sz="6000" b="1" i="0" u="none" strike="noStrike">
              <a:solidFill>
                <a:srgbClr val="FFFFFF"/>
              </a:solidFill>
              <a:latin typeface="华文新魏" panose="02010800040101010101" charset="-122"/>
              <a:ea typeface="华文新魏" panose="020108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3302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blurRad="190500" dist="76200" dir="54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841500" y="2032000"/>
            <a:ext cx="1143000" cy="1143000"/>
          </a:xfrm>
          <a:prstGeom prst="ellipse">
            <a:avLst/>
          </a:prstGeom>
          <a:solidFill>
            <a:srgbClr val="38BDF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95500" y="22860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330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系统管理员</a:t>
            </a:r>
            <a:endParaRPr lang="en-US" sz="2400" b="1" i="0" u="none" strike="noStrike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016000" y="371475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spc="100">
                <a:solidFill>
                  <a:srgbClr val="BAE6FD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ADMINISTRATOR</a:t>
            </a:r>
            <a:endParaRPr lang="en-US" sz="1100"/>
          </a:p>
        </p:txBody>
      </p:sp>
      <p:cxnSp>
        <p:nvCxnSpPr>
          <p:cNvPr id="9" name="Connector 9"/>
          <p:cNvCxnSpPr/>
          <p:nvPr>
            <p:custDataLst>
              <p:tags r:id="rId9"/>
            </p:custDataLst>
          </p:nvPr>
        </p:nvCxnSpPr>
        <p:spPr>
          <a:xfrm rot="-17188">
            <a:off x="1143016" y="417449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930275" y="4508500"/>
            <a:ext cx="296545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全局用户管理与权限配置</a:t>
            </a:r>
            <a:endParaRPr lang="en-US" sz="1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E5E7E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课程体系与数据字典维护</a:t>
            </a:r>
            <a:endParaRPr lang="en-US" sz="1800" b="0" i="0" u="none" strike="noStrike">
              <a:solidFill>
                <a:srgbClr val="E5E7EB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E5E7E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全平台成绩审核与异常处理</a:t>
            </a:r>
            <a:endParaRPr lang="en-US" sz="1800" b="0" i="0" u="none" strike="noStrike">
              <a:solidFill>
                <a:srgbClr val="E5E7EB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E5E7E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多维度数据报表统计分析</a:t>
            </a:r>
            <a:endParaRPr lang="en-US" sz="1800" b="0" i="0" u="none" strike="noStrike">
              <a:solidFill>
                <a:srgbClr val="E5E7EB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4445000" y="1651000"/>
            <a:ext cx="3302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blurRad="190500" dist="76200" dir="54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5524500" y="2032000"/>
            <a:ext cx="1143000" cy="1143000"/>
          </a:xfrm>
          <a:prstGeom prst="ellipse">
            <a:avLst/>
          </a:prstGeom>
          <a:solidFill>
            <a:srgbClr val="A78BFA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78500" y="2286000"/>
            <a:ext cx="635000" cy="6350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4699000" y="330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授课教师</a:t>
            </a:r>
            <a:endParaRPr lang="en-US" sz="2400" b="1" i="0" u="none" strike="noStrike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4699000" y="371475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spc="100">
                <a:solidFill>
                  <a:srgbClr val="DDD6FE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INSTRUCTOR</a:t>
            </a:r>
            <a:endParaRPr lang="en-US" sz="1100"/>
          </a:p>
        </p:txBody>
      </p:sp>
      <p:cxnSp>
        <p:nvCxnSpPr>
          <p:cNvPr id="16" name="Connector 16"/>
          <p:cNvCxnSpPr/>
          <p:nvPr>
            <p:custDataLst>
              <p:tags r:id="rId18"/>
            </p:custDataLst>
          </p:nvPr>
        </p:nvCxnSpPr>
        <p:spPr>
          <a:xfrm rot="-17188">
            <a:off x="4826016" y="417449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4699000" y="4508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在线录入与批量导入成绩</a:t>
            </a:r>
            <a:endParaRPr lang="en-US" sz="1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E5E7E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审核前成绩自由修正编辑</a:t>
            </a:r>
            <a:endParaRPr lang="en-US" sz="1800" b="0" i="0" u="none" strike="noStrike">
              <a:solidFill>
                <a:srgbClr val="E5E7EB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E5E7E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多条件组合查询班级成绩</a:t>
            </a:r>
            <a:endParaRPr lang="en-US" sz="1800" b="0" i="0" u="none" strike="noStrike">
              <a:solidFill>
                <a:srgbClr val="E5E7EB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E5E7E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可视化查看成绩分布曲线</a:t>
            </a:r>
            <a:endParaRPr lang="en-US" sz="1800" b="0" i="0" u="none" strike="noStrike">
              <a:solidFill>
                <a:srgbClr val="E5E7EB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8128000" y="1651000"/>
            <a:ext cx="3302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blurRad="190500" dist="76200" dir="54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9207500" y="2032000"/>
            <a:ext cx="1143000" cy="1143000"/>
          </a:xfrm>
          <a:prstGeom prst="ellipse">
            <a:avLst/>
          </a:prstGeom>
          <a:solidFill>
            <a:srgbClr val="34D3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461500" y="2286000"/>
            <a:ext cx="635000" cy="6350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8382000" y="330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在校学生</a:t>
            </a:r>
            <a:endParaRPr lang="en-US" sz="2400" b="1" i="0" u="none" strike="noStrike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8382000" y="371475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spc="100">
                <a:solidFill>
                  <a:srgbClr val="A7F3D0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STUDENT</a:t>
            </a:r>
            <a:endParaRPr lang="en-US" sz="1100"/>
          </a:p>
        </p:txBody>
      </p:sp>
      <p:cxnSp>
        <p:nvCxnSpPr>
          <p:cNvPr id="23" name="Connector 23"/>
          <p:cNvCxnSpPr/>
          <p:nvPr>
            <p:custDataLst>
              <p:tags r:id="rId27"/>
            </p:custDataLst>
          </p:nvPr>
        </p:nvCxnSpPr>
        <p:spPr>
          <a:xfrm rot="-17188">
            <a:off x="8509016" y="417449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>
            <p:custDataLst>
              <p:tags r:id="rId28"/>
            </p:custDataLst>
          </p:nvPr>
        </p:nvSpPr>
        <p:spPr>
          <a:xfrm>
            <a:off x="8451850" y="4508500"/>
            <a:ext cx="290512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个人成绩单智能绩点计算</a:t>
            </a:r>
            <a:endParaRPr lang="en-US" sz="1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E5E7E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按学期/课程快速检索成绩</a:t>
            </a:r>
            <a:endParaRPr lang="en-US" sz="1800" b="0" i="0" u="none" strike="noStrike">
              <a:solidFill>
                <a:srgbClr val="E5E7EB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E5E7E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标准格式成绩单PDF导出</a:t>
            </a:r>
            <a:endParaRPr lang="en-US" sz="1800" b="0" i="0" u="none" strike="noStrike">
              <a:solidFill>
                <a:srgbClr val="E5E7EB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E5E7E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 历年学业数据纵向对比</a:t>
            </a:r>
            <a:endParaRPr lang="en-US" sz="1800" b="0" i="0" u="none" strike="noStrike">
              <a:solidFill>
                <a:srgbClr val="E5E7EB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70205" y="198120"/>
            <a:ext cx="1925955" cy="6348095"/>
          </a:xfrm>
          <a:prstGeom prst="rect">
            <a:avLst/>
          </a:prstGeom>
          <a:solidFill>
            <a:srgbClr val="292D2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AutoShape 2"/>
          <p:cNvSpPr/>
          <p:nvPr/>
        </p:nvSpPr>
        <p:spPr>
          <a:xfrm>
            <a:off x="2362835" y="0"/>
            <a:ext cx="9829165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9445" y="1565275"/>
            <a:ext cx="599440" cy="3326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</a:t>
            </a:r>
            <a:endParaRPr lang="zh-CN" altLang="en-US" sz="4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933315" y="2315210"/>
            <a:ext cx="6350000" cy="19469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8000"/>
              </a:lnSpc>
              <a:buSzTx/>
              <a:defRPr/>
            </a:pPr>
            <a:r>
              <a:rPr lang="en-US" sz="6000" b="1">
                <a:solidFill>
                  <a:srgbClr val="FFFFFF">
                    <a:alpha val="90196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B/S分布式模式与主流前后端技术栈</a:t>
            </a:r>
            <a:endParaRPr lang="en-US" sz="6000" b="1" i="0" u="none" strike="noStrike">
              <a:solidFill>
                <a:srgbClr val="FFFFFF">
                  <a:alpha val="90196"/>
                </a:srgbClr>
              </a:solidFill>
              <a:latin typeface="华文楷体" panose="02010600040101010101" charset="-122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835398" y="2085340"/>
            <a:ext cx="254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8" name="文本框 7"/>
          <p:cNvSpPr txBox="1"/>
          <p:nvPr/>
        </p:nvSpPr>
        <p:spPr>
          <a:xfrm>
            <a:off x="1602740" y="1765935"/>
            <a:ext cx="459740" cy="3375025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SYSTEM ARCHITECTURE DESIGN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9445" y="482600"/>
            <a:ext cx="1122108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Noto Sans SC" panose="020B0200000000000000" charset="-122"/>
              </a:rPr>
              <a:t>技术架构：B/S模式与主流技术栈</a:t>
            </a:r>
            <a:endParaRPr lang="en-US" sz="600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4826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 descr="D:/pine/下载/OIP-C.pngOIP-C"/>
          <p:cNvPicPr>
            <a:picLocks noChangeAspect="1"/>
          </p:cNvPicPr>
          <p:nvPr/>
        </p:nvPicPr>
        <p:blipFill>
          <a:blip r:embed="rId2"/>
          <a:srcRect t="1440" b="231"/>
          <a:stretch>
            <a:fillRect/>
          </a:stretch>
        </p:blipFill>
        <p:spPr>
          <a:xfrm>
            <a:off x="1016000" y="1524000"/>
            <a:ext cx="4318000" cy="4389755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5842000"/>
            <a:ext cx="4318000" cy="4533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B/S 系统架构逻辑视图</a:t>
            </a:r>
            <a:endParaRPr lang="en-US" sz="2400" b="1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859780" y="1524000"/>
            <a:ext cx="5588000" cy="17653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1841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794500" y="1752600"/>
            <a:ext cx="484378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核心模式：</a:t>
            </a:r>
            <a:r>
              <a:rPr lang="en-US" sz="2400" b="1" i="0" u="none" strike="noStrike">
                <a:solidFill>
                  <a:srgbClr val="0F172A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Browser / Server (B/S)</a:t>
            </a:r>
            <a:endParaRPr lang="en-US" sz="24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858000" y="2355215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47556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无需安装客户端，用户通过浏览器即可访问系统。大幅降低部署、升级与维护成本，是现代Web应用的主流架构选择。</a:t>
            </a:r>
            <a:endParaRPr lang="en-US" sz="1800" b="0" i="0" u="none" strike="noStrike">
              <a:solidFill>
                <a:srgbClr val="475569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859780" y="3429000"/>
            <a:ext cx="5588000" cy="29337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195060" y="3580765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全栈技术选型方案</a:t>
            </a:r>
            <a:endParaRPr lang="en-US" sz="2400" b="1" i="0" u="none" strike="noStrike">
              <a:solidFill>
                <a:srgbClr val="0F172A"/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6096000" y="4044315"/>
            <a:ext cx="2561590" cy="988060"/>
            <a:chOff x="9600" y="6200"/>
            <a:chExt cx="4034" cy="1556"/>
          </a:xfrm>
        </p:grpSpPr>
        <p:sp>
          <p:nvSpPr>
            <p:cNvPr id="13" name="AutoShape 13"/>
            <p:cNvSpPr/>
            <p:nvPr/>
          </p:nvSpPr>
          <p:spPr>
            <a:xfrm>
              <a:off x="9600" y="6200"/>
              <a:ext cx="4000" cy="1556"/>
            </a:xfrm>
            <a:prstGeom prst="roundRect">
              <a:avLst>
                <a:gd name="adj" fmla="val 14285"/>
              </a:avLst>
            </a:prstGeom>
            <a:solidFill>
              <a:srgbClr val="EFF6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800" y="6580"/>
              <a:ext cx="640" cy="640"/>
            </a:xfrm>
            <a:prstGeom prst="rect">
              <a:avLst/>
            </a:prstGeom>
          </p:spPr>
        </p:pic>
        <p:sp>
          <p:nvSpPr>
            <p:cNvPr id="15" name="AutoShape 15"/>
            <p:cNvSpPr/>
            <p:nvPr/>
          </p:nvSpPr>
          <p:spPr>
            <a:xfrm>
              <a:off x="10607" y="6346"/>
              <a:ext cx="28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1E293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后端核心框架</a:t>
              </a:r>
              <a:endPara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6" name="AutoShape 16"/>
            <p:cNvSpPr/>
            <p:nvPr/>
          </p:nvSpPr>
          <p:spPr>
            <a:xfrm>
              <a:off x="10607" y="6885"/>
              <a:ext cx="3027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b="0" i="0" u="none" strike="noStrike">
                  <a:solidFill>
                    <a:srgbClr val="64748B"/>
                  </a:solidFill>
                  <a:latin typeface="Times New Roman" panose="02020603050405020304" charset="0"/>
                  <a:ea typeface="Noto Sans SC" panose="020B0200000000000000" charset="-122"/>
                  <a:cs typeface="Times New Roman" panose="02020603050405020304" charset="0"/>
                  <a:sym typeface="Noto Sans SC" panose="020B0200000000000000" charset="-122"/>
                </a:rPr>
                <a:t>Spring Boot + MVC</a:t>
              </a:r>
              <a:r>
                <a:rPr lang="en-US" b="0" i="0" u="none" strike="noStrike">
                  <a:solidFill>
                    <a:srgbClr val="64748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模式</a:t>
              </a:r>
              <a:endParaRPr lang="en-US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8763000" y="4024630"/>
            <a:ext cx="2540000" cy="1009650"/>
            <a:chOff x="13800" y="6200"/>
            <a:chExt cx="4000" cy="1590"/>
          </a:xfrm>
        </p:grpSpPr>
        <p:sp>
          <p:nvSpPr>
            <p:cNvPr id="17" name="AutoShape 17"/>
            <p:cNvSpPr/>
            <p:nvPr/>
          </p:nvSpPr>
          <p:spPr>
            <a:xfrm>
              <a:off x="13800" y="6200"/>
              <a:ext cx="4000" cy="1590"/>
            </a:xfrm>
            <a:prstGeom prst="roundRect">
              <a:avLst>
                <a:gd name="adj" fmla="val 14285"/>
              </a:avLst>
            </a:prstGeom>
            <a:solidFill>
              <a:srgbClr val="EFF6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000" y="6580"/>
              <a:ext cx="640" cy="640"/>
            </a:xfrm>
            <a:prstGeom prst="rect">
              <a:avLst/>
            </a:prstGeom>
          </p:spPr>
        </p:pic>
        <p:sp>
          <p:nvSpPr>
            <p:cNvPr id="19" name="AutoShape 19"/>
            <p:cNvSpPr/>
            <p:nvPr/>
          </p:nvSpPr>
          <p:spPr>
            <a:xfrm>
              <a:off x="14800" y="6360"/>
              <a:ext cx="28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1E293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数据持久层</a:t>
              </a:r>
              <a:endPara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4800" y="7070"/>
              <a:ext cx="2956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b="0" i="0" u="none" strike="noStrike">
                  <a:solidFill>
                    <a:srgbClr val="64748B"/>
                  </a:solidFill>
                  <a:latin typeface="Times New Roman" panose="02020603050405020304" charset="0"/>
                  <a:ea typeface="Noto Sans SC" panose="020B0200000000000000" charset="-122"/>
                  <a:cs typeface="Times New Roman" panose="02020603050405020304" charset="0"/>
                  <a:sym typeface="Noto Sans SC" panose="020B0200000000000000" charset="-122"/>
                </a:rPr>
                <a:t>MyBatis</a:t>
              </a:r>
              <a:r>
                <a:rPr lang="en-US" b="0" i="0" u="none" strike="noStrike">
                  <a:solidFill>
                    <a:srgbClr val="64748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(灵活</a:t>
              </a:r>
              <a:r>
                <a:rPr lang="en-US" b="0" i="0" u="none" strike="noStrike">
                  <a:solidFill>
                    <a:srgbClr val="64748B"/>
                  </a:solidFill>
                  <a:latin typeface="Times New Roman" panose="02020603050405020304" charset="0"/>
                  <a:ea typeface="Noto Sans SC" panose="020B0200000000000000" charset="-122"/>
                  <a:cs typeface="Times New Roman" panose="02020603050405020304" charset="0"/>
                  <a:sym typeface="Noto Sans SC" panose="020B0200000000000000" charset="-122"/>
                </a:rPr>
                <a:t>SQL</a:t>
              </a:r>
              <a:r>
                <a:rPr lang="en-US" b="0" i="0" u="none" strike="noStrike">
                  <a:solidFill>
                    <a:srgbClr val="64748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/性能优)</a:t>
              </a:r>
              <a:endParaRPr lang="en-US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6096000" y="5194300"/>
            <a:ext cx="2540000" cy="979170"/>
            <a:chOff x="9600" y="7800"/>
            <a:chExt cx="4000" cy="1542"/>
          </a:xfrm>
        </p:grpSpPr>
        <p:sp>
          <p:nvSpPr>
            <p:cNvPr id="21" name="AutoShape 21"/>
            <p:cNvSpPr/>
            <p:nvPr/>
          </p:nvSpPr>
          <p:spPr>
            <a:xfrm>
              <a:off x="9600" y="7800"/>
              <a:ext cx="4000" cy="1542"/>
            </a:xfrm>
            <a:prstGeom prst="roundRect">
              <a:avLst>
                <a:gd name="adj" fmla="val 14285"/>
              </a:avLst>
            </a:prstGeom>
            <a:solidFill>
              <a:srgbClr val="EFF6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00" y="8180"/>
              <a:ext cx="640" cy="640"/>
            </a:xfrm>
            <a:prstGeom prst="rect">
              <a:avLst/>
            </a:prstGeom>
          </p:spPr>
        </p:pic>
        <p:sp>
          <p:nvSpPr>
            <p:cNvPr id="23" name="AutoShape 23"/>
            <p:cNvSpPr/>
            <p:nvPr/>
          </p:nvSpPr>
          <p:spPr>
            <a:xfrm>
              <a:off x="10600" y="7960"/>
              <a:ext cx="28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1E293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前端交互界面</a:t>
              </a:r>
              <a:endPara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4" name="AutoShape 24"/>
            <p:cNvSpPr/>
            <p:nvPr/>
          </p:nvSpPr>
          <p:spPr>
            <a:xfrm>
              <a:off x="10600" y="8619"/>
              <a:ext cx="280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b="0" i="0" u="none" strike="noStrike">
                  <a:solidFill>
                    <a:srgbClr val="64748B"/>
                  </a:solidFill>
                  <a:latin typeface="Times New Roman" panose="02020603050405020304" charset="0"/>
                  <a:ea typeface="Noto Sans SC" panose="020B0200000000000000" charset="-122"/>
                  <a:cs typeface="Times New Roman" panose="02020603050405020304" charset="0"/>
                  <a:sym typeface="Noto Sans SC" panose="020B0200000000000000" charset="-122"/>
                </a:rPr>
                <a:t>HTML/CSS + Vue.js</a:t>
              </a:r>
              <a:r>
                <a:rPr lang="en-US" b="0" i="0" u="none" strike="noStrike">
                  <a:solidFill>
                    <a:srgbClr val="64748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(轻量)</a:t>
              </a:r>
              <a:endParaRPr lang="en-US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763000" y="5197475"/>
            <a:ext cx="2540000" cy="979170"/>
            <a:chOff x="13800" y="7877"/>
            <a:chExt cx="4000" cy="1542"/>
          </a:xfrm>
        </p:grpSpPr>
        <p:sp>
          <p:nvSpPr>
            <p:cNvPr id="25" name="AutoShape 25"/>
            <p:cNvSpPr/>
            <p:nvPr/>
          </p:nvSpPr>
          <p:spPr>
            <a:xfrm>
              <a:off x="13800" y="7877"/>
              <a:ext cx="4000" cy="1542"/>
            </a:xfrm>
            <a:prstGeom prst="roundRect">
              <a:avLst>
                <a:gd name="adj" fmla="val 14285"/>
              </a:avLst>
            </a:prstGeom>
            <a:solidFill>
              <a:srgbClr val="EFF6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4000" y="8180"/>
              <a:ext cx="640" cy="640"/>
            </a:xfrm>
            <a:prstGeom prst="rect">
              <a:avLst/>
            </a:prstGeom>
          </p:spPr>
        </p:pic>
        <p:sp>
          <p:nvSpPr>
            <p:cNvPr id="27" name="AutoShape 27"/>
            <p:cNvSpPr/>
            <p:nvPr/>
          </p:nvSpPr>
          <p:spPr>
            <a:xfrm>
              <a:off x="14800" y="7960"/>
              <a:ext cx="28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1E293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方案核心优势</a:t>
              </a:r>
              <a:endPara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14800" y="8654"/>
              <a:ext cx="280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b="0" i="0" u="none" strike="noStrike">
                  <a:solidFill>
                    <a:srgbClr val="64748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高内聚 / 低耦合 / 易维护</a:t>
              </a:r>
              <a:endParaRPr lang="en-US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70205" y="198120"/>
            <a:ext cx="1925955" cy="6348095"/>
          </a:xfrm>
          <a:prstGeom prst="rect">
            <a:avLst/>
          </a:prstGeom>
          <a:solidFill>
            <a:srgbClr val="292D2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AutoShape 2"/>
          <p:cNvSpPr/>
          <p:nvPr/>
        </p:nvSpPr>
        <p:spPr>
          <a:xfrm>
            <a:off x="2362835" y="0"/>
            <a:ext cx="9829165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9445" y="1625600"/>
            <a:ext cx="599440" cy="3326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数据库设计</a:t>
            </a:r>
            <a:endParaRPr lang="zh-CN" altLang="en-US" sz="4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933315" y="2315210"/>
            <a:ext cx="6350000" cy="19469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6000" b="1" i="0" u="none" strike="noStrike">
                <a:solidFill>
                  <a:srgbClr val="FFFFFF">
                    <a:alpha val="90196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核心实体关系与</a:t>
            </a:r>
            <a:r>
              <a:rPr lang="zh-CN" altLang="en-US" sz="6000" b="1" i="0" u="none" strike="noStrike">
                <a:solidFill>
                  <a:srgbClr val="FFFFFF">
                    <a:alpha val="90196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表结构</a:t>
            </a:r>
            <a:endParaRPr lang="zh-CN" altLang="en-US" sz="6000" b="1" i="0" u="none" strike="noStrike">
              <a:solidFill>
                <a:srgbClr val="FFFFFF">
                  <a:alpha val="90196"/>
                </a:srgbClr>
              </a:solidFill>
              <a:latin typeface="华文楷体" panose="02010600040101010101" charset="-122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835398" y="2085340"/>
            <a:ext cx="254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8" name="文本框 7"/>
          <p:cNvSpPr txBox="1"/>
          <p:nvPr/>
        </p:nvSpPr>
        <p:spPr>
          <a:xfrm>
            <a:off x="1602740" y="2218690"/>
            <a:ext cx="459740" cy="2141220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DATABASE  DESIGN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4953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华文新魏" panose="02010800040101010101" charset="-122"/>
                <a:ea typeface="华文新魏" panose="02010800040101010101" charset="-122"/>
                <a:cs typeface="Noto Sans SC" panose="020B0200000000000000" charset="-122"/>
                <a:sym typeface="Noto Sans SC" panose="020B0200000000000000" charset="-122"/>
              </a:rPr>
              <a:t>数据库设计：核心实体关系</a:t>
            </a:r>
            <a:endParaRPr lang="en-US" sz="6000" b="1" i="0" u="none" strike="noStrike">
              <a:solidFill>
                <a:srgbClr val="FFFFFF"/>
              </a:solidFill>
              <a:latin typeface="华文新魏" panose="02010800040101010101" charset="-122"/>
              <a:ea typeface="华文新魏" panose="020108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70890" y="1288415"/>
            <a:ext cx="4318000" cy="1013460"/>
          </a:xfrm>
          <a:prstGeom prst="roundRect">
            <a:avLst>
              <a:gd name="adj" fmla="val 1600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961390" y="1453515"/>
            <a:ext cx="609600" cy="609600"/>
          </a:xfrm>
          <a:prstGeom prst="ellipse">
            <a:avLst/>
          </a:prstGeom>
          <a:solidFill>
            <a:srgbClr val="3B82F6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3790" y="1605915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786890" y="1415415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用户表 (user)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786890" y="1796415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存储系统所有用户的基础通用信息与鉴权数据。</a:t>
            </a:r>
            <a:endParaRPr lang="en-US" b="1" i="0" u="none" strike="noStrike">
              <a:solidFill>
                <a:srgbClr val="E5E7EB">
                  <a:alpha val="80000"/>
                </a:srgbClr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770890" y="2367915"/>
            <a:ext cx="4318000" cy="1028065"/>
          </a:xfrm>
          <a:prstGeom prst="roundRect">
            <a:avLst>
              <a:gd name="adj" fmla="val 1600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961390" y="2533015"/>
            <a:ext cx="609600" cy="609600"/>
          </a:xfrm>
          <a:prstGeom prst="ellipse">
            <a:avLst/>
          </a:prstGeom>
          <a:solidFill>
            <a:srgbClr val="10B981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13790" y="2685415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1786890" y="2494915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学生表 (student)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1786890" y="2875915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存储学生特有的学籍信息、年级班级等详细档案。</a:t>
            </a:r>
            <a:endParaRPr lang="en-US" b="1" i="0" u="none" strike="noStrike">
              <a:solidFill>
                <a:srgbClr val="E5E7EB">
                  <a:alpha val="80000"/>
                </a:srgbClr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770890" y="3447415"/>
            <a:ext cx="4318000" cy="1026795"/>
          </a:xfrm>
          <a:prstGeom prst="roundRect">
            <a:avLst>
              <a:gd name="adj" fmla="val 1600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961390" y="3612515"/>
            <a:ext cx="609600" cy="609600"/>
          </a:xfrm>
          <a:prstGeom prst="ellipse">
            <a:avLst/>
          </a:prstGeom>
          <a:solidFill>
            <a:srgbClr val="F59E0B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13790" y="3764915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1786890" y="3574415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教师表 (teacher)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1786890" y="3955415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存储教师的工号、职称、所授科目等专业信息。</a:t>
            </a:r>
            <a:endParaRPr lang="en-US" b="1" i="0" u="none" strike="noStrike">
              <a:solidFill>
                <a:srgbClr val="E5E7EB">
                  <a:alpha val="80000"/>
                </a:srgbClr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770890" y="4526915"/>
            <a:ext cx="4318000" cy="1017270"/>
          </a:xfrm>
          <a:prstGeom prst="roundRect">
            <a:avLst>
              <a:gd name="adj" fmla="val 1600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961390" y="4692015"/>
            <a:ext cx="609600" cy="609600"/>
          </a:xfrm>
          <a:prstGeom prst="ellipse">
            <a:avLst/>
          </a:prstGeom>
          <a:solidFill>
            <a:srgbClr val="8B5CF6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13790" y="4844415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28"/>
            </p:custDataLst>
          </p:nvPr>
        </p:nvSpPr>
        <p:spPr>
          <a:xfrm>
            <a:off x="1786890" y="4653915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课程表 (course)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29"/>
            </p:custDataLst>
          </p:nvPr>
        </p:nvSpPr>
        <p:spPr>
          <a:xfrm>
            <a:off x="1788795" y="506095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存储课程代码、名称、学分、学时及所属专业。</a:t>
            </a:r>
            <a:endParaRPr lang="en-US" b="1" i="0" u="none" strike="noStrike">
              <a:solidFill>
                <a:srgbClr val="E5E7EB">
                  <a:alpha val="80000"/>
                </a:srgbClr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30"/>
            </p:custDataLst>
          </p:nvPr>
        </p:nvSpPr>
        <p:spPr>
          <a:xfrm>
            <a:off x="770890" y="5606415"/>
            <a:ext cx="4318000" cy="1004570"/>
          </a:xfrm>
          <a:prstGeom prst="roundRect">
            <a:avLst>
              <a:gd name="adj" fmla="val 17142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>
            <p:custDataLst>
              <p:tags r:id="rId31"/>
            </p:custDataLst>
          </p:nvPr>
        </p:nvSpPr>
        <p:spPr>
          <a:xfrm>
            <a:off x="961390" y="5746115"/>
            <a:ext cx="609600" cy="609600"/>
          </a:xfrm>
          <a:prstGeom prst="ellipse">
            <a:avLst/>
          </a:prstGeom>
          <a:solidFill>
            <a:srgbClr val="EC4899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113790" y="5898515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>
            <p:custDataLst>
              <p:tags r:id="rId35"/>
            </p:custDataLst>
          </p:nvPr>
        </p:nvSpPr>
        <p:spPr>
          <a:xfrm>
            <a:off x="1786890" y="5733415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成绩表 (score)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>
            <p:custDataLst>
              <p:tags r:id="rId36"/>
            </p:custDataLst>
          </p:nvPr>
        </p:nvSpPr>
        <p:spPr>
          <a:xfrm>
            <a:off x="1788795" y="619252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记录学生修读课程的最终考核成绩与评价。</a:t>
            </a:r>
            <a:endParaRPr lang="en-US" b="1" i="0" u="none" strike="noStrike">
              <a:solidFill>
                <a:srgbClr val="E5E7EB">
                  <a:alpha val="80000"/>
                </a:srgbClr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5330190" y="1282065"/>
            <a:ext cx="6096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37"/>
          <a:srcRect l="164" r="164"/>
          <a:stretch>
            <a:fillRect/>
          </a:stretch>
        </p:blipFill>
        <p:spPr>
          <a:xfrm>
            <a:off x="5461000" y="1409065"/>
            <a:ext cx="5842000" cy="2794000"/>
          </a:xfrm>
          <a:prstGeom prst="roundRect">
            <a:avLst>
              <a:gd name="adj" fmla="val 363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1" name="AutoShape 31"/>
          <p:cNvSpPr/>
          <p:nvPr/>
        </p:nvSpPr>
        <p:spPr>
          <a:xfrm>
            <a:off x="5330190" y="4474210"/>
            <a:ext cx="6096000" cy="2084070"/>
          </a:xfrm>
          <a:prstGeom prst="roundRect">
            <a:avLst>
              <a:gd name="adj" fmla="val 9230"/>
            </a:avLst>
          </a:prstGeom>
          <a:solidFill>
            <a:srgbClr val="FFFFFF">
              <a:alpha val="12000"/>
            </a:srgbClr>
          </a:solidFill>
          <a:ln w="12700" cap="flat" cmpd="sng">
            <a:solidFill>
              <a:srgbClr val="3B82F6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5588000" y="4658360"/>
            <a:ext cx="558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▍实体关联逻辑</a:t>
            </a:r>
            <a:endParaRPr lang="en-US" sz="2400" b="1" i="0" u="none" strike="noStrike">
              <a:solidFill>
                <a:srgbClr val="60A5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5715000" y="5278755"/>
            <a:ext cx="558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EFF6FF">
                    <a:alpha val="90196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</a:t>
            </a:r>
            <a:r>
              <a:rPr lang="en-US" sz="1600" b="1" i="0" u="none" strike="noStrike">
                <a:solidFill>
                  <a:srgbClr val="EFF6FF">
                    <a:alpha val="90196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继承关联：用户表 (User) 作为主表，关联学生表与教师表，实现统一鉴权。</a:t>
            </a:r>
            <a:endParaRPr lang="en-US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EFF6FF">
                    <a:alpha val="90196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</a:t>
            </a:r>
            <a:r>
              <a:rPr lang="en-US" sz="1600" b="1" i="0" u="none" strike="noStrike">
                <a:solidFill>
                  <a:srgbClr val="EFF6FF">
                    <a:alpha val="90196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授课关联：教师表与课程表通过“授课ID”建立一对多关系。</a:t>
            </a:r>
            <a:endParaRPr lang="en-US" sz="1600" b="1" i="0" u="none" strike="noStrike">
              <a:solidFill>
                <a:srgbClr val="EFF6FF">
                  <a:alpha val="90196"/>
                </a:srgb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EFF6FF">
                    <a:alpha val="90196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•</a:t>
            </a:r>
            <a:r>
              <a:rPr lang="en-US" sz="1600" b="1" i="0" u="none" strike="noStrike">
                <a:solidFill>
                  <a:srgbClr val="EFF6FF">
                    <a:alpha val="90196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成绩关联：成绩表作为中间表，关联学生ID与课程ID，形成多对多关系。</a:t>
            </a:r>
            <a:endParaRPr lang="en-US" sz="1600" b="1" i="0" u="none" strike="noStrike">
              <a:solidFill>
                <a:srgbClr val="EFF6FF">
                  <a:alpha val="90196"/>
                </a:srgb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70205" y="198120"/>
            <a:ext cx="1925955" cy="6348095"/>
          </a:xfrm>
          <a:prstGeom prst="rect">
            <a:avLst/>
          </a:prstGeom>
          <a:solidFill>
            <a:srgbClr val="292D2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AutoShape 2"/>
          <p:cNvSpPr/>
          <p:nvPr/>
        </p:nvSpPr>
        <p:spPr>
          <a:xfrm>
            <a:off x="2362835" y="0"/>
            <a:ext cx="9829165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9445" y="1625600"/>
            <a:ext cx="599440" cy="3326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开发规划</a:t>
            </a:r>
            <a:endParaRPr lang="zh-CN" altLang="en-US" sz="4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933315" y="2315210"/>
            <a:ext cx="6350000" cy="19469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6000" b="1" i="0" u="none" strike="noStrike">
                <a:solidFill>
                  <a:srgbClr val="FFFFFF">
                    <a:alpha val="90196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项目时间轴与阶段任务分解</a:t>
            </a:r>
            <a:endParaRPr lang="zh-CN" altLang="en-US" sz="6000" b="1" i="0" u="none" strike="noStrike">
              <a:solidFill>
                <a:srgbClr val="FFFFFF">
                  <a:alpha val="90196"/>
                </a:srgbClr>
              </a:solidFill>
              <a:latin typeface="华文楷体" panose="02010600040101010101" charset="-122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835398" y="2085340"/>
            <a:ext cx="254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8" name="文本框 7"/>
          <p:cNvSpPr txBox="1"/>
          <p:nvPr/>
        </p:nvSpPr>
        <p:spPr>
          <a:xfrm>
            <a:off x="1602740" y="1985645"/>
            <a:ext cx="459740" cy="2966720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DEVELOPMENT PLANNING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32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870775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华文新魏" panose="02010800040101010101" charset="-122"/>
                <a:ea typeface="华文新魏" panose="02010800040101010101" charset="-122"/>
                <a:cs typeface="Noto Sans SC" panose="020B0200000000000000" charset="-122"/>
                <a:sym typeface="Noto Sans SC" panose="020B0200000000000000" charset="-122"/>
              </a:rPr>
              <a:t>开发规划：项目时间轴</a:t>
            </a:r>
            <a:endParaRPr lang="en-US" sz="6000"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635000" y="1778000"/>
            <a:ext cx="3302000" cy="4335780"/>
          </a:xfrm>
          <a:prstGeom prst="roundRect">
            <a:avLst>
              <a:gd name="adj" fmla="val 461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2095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905000" y="20955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</a:t>
            </a:r>
            <a:r>
              <a:rPr lang="en-US" sz="20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</a:t>
            </a:r>
            <a:endParaRPr lang="en-US" sz="20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143000" y="30607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设计与环境准备</a:t>
            </a:r>
            <a:endParaRPr lang="en-US" sz="2400" b="1" i="0" u="none" strike="noStrike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>
            <p:custDataLst>
              <p:tags r:id="rId8"/>
            </p:custDataLst>
          </p:nvPr>
        </p:nvCxnSpPr>
        <p:spPr>
          <a:xfrm rot="-15626">
            <a:off x="927114" y="367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942975" y="3797300"/>
            <a:ext cx="2794000" cy="18053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完成核心需求分析与技术架构设计；</a:t>
            </a:r>
            <a:br>
              <a:rPr lang="en-US" sz="18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搭建稳定的数据库与本地开发环境；</a:t>
            </a:r>
            <a:br>
              <a:rPr lang="en-US" sz="18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输出详细的技术设计文档</a:t>
            </a:r>
            <a:r>
              <a:rPr lang="en-US" sz="16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。</a:t>
            </a:r>
            <a:endParaRPr lang="en-US" sz="11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445000" y="1778000"/>
            <a:ext cx="3302000" cy="4335145"/>
          </a:xfrm>
          <a:prstGeom prst="roundRect">
            <a:avLst>
              <a:gd name="adj" fmla="val 461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62500" y="2095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4953000" y="3048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开发与联调测试</a:t>
            </a:r>
            <a:endParaRPr lang="en-US" sz="2400" b="1" i="0" u="none" strike="noStrike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>
            <p:custDataLst>
              <p:tags r:id="rId15"/>
            </p:custDataLst>
          </p:nvPr>
        </p:nvCxnSpPr>
        <p:spPr>
          <a:xfrm rot="-15626">
            <a:off x="4699014" y="367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4699000" y="3799205"/>
            <a:ext cx="2794000" cy="2169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前后端功能并行开发，实现核心逻辑；</a:t>
            </a:r>
            <a:br>
              <a:rPr lang="en-US" sz="18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完成接口对接与页面布局优化；</a:t>
            </a:r>
            <a:br>
              <a:rPr lang="en-US" sz="18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开展全面的联调与Bug修复工作</a:t>
            </a:r>
            <a:r>
              <a:rPr lang="en-US" sz="16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。</a:t>
            </a:r>
            <a:endParaRPr lang="en-US" sz="11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8128000" y="1778000"/>
            <a:ext cx="3302000" cy="4335780"/>
          </a:xfrm>
          <a:prstGeom prst="roundRect">
            <a:avLst>
              <a:gd name="adj" fmla="val 461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707120" y="214122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9525000" y="20701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 </a:t>
            </a:r>
            <a:r>
              <a:rPr lang="en-US" sz="20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</a:t>
            </a:r>
            <a:endParaRPr lang="en-US" sz="20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8636000" y="30607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项目结项与答辩</a:t>
            </a:r>
            <a:endParaRPr lang="en-US" sz="2400" b="1" i="0" u="none" strike="noStrike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0" name="Connector 20"/>
          <p:cNvCxnSpPr/>
          <p:nvPr>
            <p:custDataLst>
              <p:tags r:id="rId23"/>
            </p:custDataLst>
          </p:nvPr>
        </p:nvCxnSpPr>
        <p:spPr>
          <a:xfrm rot="-15626">
            <a:off x="8382014" y="367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>
            <p:custDataLst>
              <p:tags r:id="rId24"/>
            </p:custDataLst>
          </p:nvPr>
        </p:nvSpPr>
        <p:spPr>
          <a:xfrm>
            <a:off x="8382000" y="3797300"/>
            <a:ext cx="2794000" cy="2122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整理并撰写完整的项目总结文档；</a:t>
            </a:r>
            <a:br>
              <a:rPr lang="en-US" sz="18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制作专业的项目答辩演示PPT；</a:t>
            </a:r>
            <a:br>
              <a:rPr lang="en-US" sz="18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进行最终系统演示与项目成果答辩。</a:t>
            </a:r>
            <a:endParaRPr lang="en-US" sz="1800" b="1" i="0" u="none" strike="noStrike">
              <a:solidFill>
                <a:srgbClr val="E5E7EB">
                  <a:alpha val="80000"/>
                </a:srgb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</p:txBody>
      </p:sp>
      <p:sp>
        <p:nvSpPr>
          <p:cNvPr id="22" name="AutoShape 6"/>
          <p:cNvSpPr/>
          <p:nvPr>
            <p:custDataLst>
              <p:tags r:id="rId25"/>
            </p:custDataLst>
          </p:nvPr>
        </p:nvSpPr>
        <p:spPr>
          <a:xfrm>
            <a:off x="5588000" y="2095500"/>
            <a:ext cx="173228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09-10 </a:t>
            </a:r>
            <a:r>
              <a:rPr lang="en-US" sz="20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</a:t>
            </a:r>
            <a:endParaRPr lang="en-US" sz="20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70205" y="198120"/>
            <a:ext cx="1925955" cy="6348095"/>
          </a:xfrm>
          <a:prstGeom prst="rect">
            <a:avLst/>
          </a:prstGeom>
          <a:solidFill>
            <a:srgbClr val="292D2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AutoShape 2"/>
          <p:cNvSpPr/>
          <p:nvPr/>
        </p:nvSpPr>
        <p:spPr>
          <a:xfrm>
            <a:off x="2362835" y="0"/>
            <a:ext cx="9829165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9445" y="1625600"/>
            <a:ext cx="599440" cy="3326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团队协作</a:t>
            </a:r>
            <a:endParaRPr lang="zh-CN" altLang="en-US" sz="4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933315" y="2315210"/>
            <a:ext cx="6350000" cy="19469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6000" b="1" i="0" u="none" strike="noStrike">
                <a:solidFill>
                  <a:srgbClr val="FFFFFF">
                    <a:alpha val="90196"/>
                  </a:srgbClr>
                </a:solidFill>
                <a:latin typeface="华文楷体" panose="02010600040101010101" charset="-122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成员职责与协作方式</a:t>
            </a:r>
            <a:endParaRPr lang="zh-CN" altLang="en-US" sz="6000" b="1" i="0" u="none" strike="noStrike">
              <a:solidFill>
                <a:srgbClr val="FFFFFF">
                  <a:alpha val="90196"/>
                </a:srgbClr>
              </a:solidFill>
              <a:latin typeface="华文楷体" panose="02010600040101010101" charset="-122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835398" y="2085340"/>
            <a:ext cx="254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8" name="文本框 7"/>
          <p:cNvSpPr txBox="1"/>
          <p:nvPr/>
        </p:nvSpPr>
        <p:spPr>
          <a:xfrm>
            <a:off x="1602740" y="2085340"/>
            <a:ext cx="459740" cy="2530475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TEAM COLLABORATION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32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华文新魏" panose="02010800040101010101" charset="-122"/>
                <a:ea typeface="华文新魏" panose="02010800040101010101" charset="-122"/>
                <a:cs typeface="Noto Sans SC" panose="020B0200000000000000" charset="-122"/>
                <a:sym typeface="Noto Sans SC" panose="020B0200000000000000" charset="-122"/>
              </a:rPr>
              <a:t>团队协作：成员职责与分工</a:t>
            </a:r>
            <a:endParaRPr lang="en-US" sz="6000" b="1" i="0" u="none" strike="noStrike">
              <a:solidFill>
                <a:srgbClr val="FFFFFF"/>
              </a:solidFill>
              <a:latin typeface="华文新魏" panose="02010800040101010101" charset="-122"/>
              <a:ea typeface="华文新魏" panose="020108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670560" y="1770380"/>
            <a:ext cx="5419309" cy="1255694"/>
          </a:xfrm>
          <a:prstGeom prst="roundRect">
            <a:avLst>
              <a:gd name="adj" fmla="val 1263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868827" y="1968647"/>
            <a:ext cx="845941" cy="845941"/>
          </a:xfrm>
          <a:prstGeom prst="ellipse">
            <a:avLst/>
          </a:prstGeom>
          <a:solidFill>
            <a:srgbClr val="34D399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3877" y="2153697"/>
            <a:ext cx="475842" cy="475842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926254" y="1928994"/>
            <a:ext cx="3965348" cy="3965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尹媛 | 组长、文档、测试、前端</a:t>
            </a:r>
            <a:endParaRPr lang="en-US" sz="20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926254" y="2365182"/>
            <a:ext cx="3899259" cy="5287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统筹项目整体规划，把控关键节点进度，合理分配任务并负责全流程风险管理。</a:t>
            </a:r>
            <a:endParaRPr lang="en-US" sz="1600" b="1" i="0" u="none" strike="noStrike">
              <a:solidFill>
                <a:srgbClr val="E5E7EB">
                  <a:alpha val="80000"/>
                </a:srgbClr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670560" y="3224341"/>
            <a:ext cx="5419309" cy="1255694"/>
          </a:xfrm>
          <a:prstGeom prst="roundRect">
            <a:avLst>
              <a:gd name="adj" fmla="val 1263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868827" y="3422608"/>
            <a:ext cx="845941" cy="845941"/>
          </a:xfrm>
          <a:prstGeom prst="ellipse">
            <a:avLst/>
          </a:prstGeom>
          <a:solidFill>
            <a:srgbClr val="60A5FA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877" y="3607658"/>
            <a:ext cx="475842" cy="475842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1926254" y="3382955"/>
            <a:ext cx="3965348" cy="3965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刘敏祺 | 后端核心开发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1926254" y="3819143"/>
            <a:ext cx="3899259" cy="5287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专注于管理员和教师端的核心业务逻辑实现，保障业务模块功能的高可用性与稳定性。</a:t>
            </a:r>
            <a:endParaRPr lang="en-US" sz="1600" b="1" i="0" u="none" strike="noStrike">
              <a:solidFill>
                <a:srgbClr val="E5E7EB">
                  <a:alpha val="80000"/>
                </a:srgbClr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670560" y="4678302"/>
            <a:ext cx="5419309" cy="1255694"/>
          </a:xfrm>
          <a:prstGeom prst="roundRect">
            <a:avLst>
              <a:gd name="adj" fmla="val 1263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868827" y="4876569"/>
            <a:ext cx="845941" cy="845941"/>
          </a:xfrm>
          <a:prstGeom prst="ellipse">
            <a:avLst/>
          </a:prstGeom>
          <a:solidFill>
            <a:srgbClr val="60A5FA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877" y="5061619"/>
            <a:ext cx="475842" cy="475842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1926254" y="4836916"/>
            <a:ext cx="3965348" cy="3965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朱宁静 | 后端数据开发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1926254" y="5273104"/>
            <a:ext cx="3899259" cy="5287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0000"/>
              </a:lnSpc>
              <a:buSzTx/>
              <a:defRPr/>
            </a:pPr>
            <a:r>
              <a:rPr lang="en-US" sz="16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负责数据访问层(DAO)架构设计，以及学生相关功能模块的开发与数据交互逻辑处理。</a:t>
            </a:r>
            <a:endParaRPr lang="en-US" sz="1600" b="1" i="0" u="none" strike="noStrike">
              <a:solidFill>
                <a:srgbClr val="E5E7EB">
                  <a:alpha val="80000"/>
                </a:srgbClr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6354226" y="1770380"/>
            <a:ext cx="5419309" cy="1255694"/>
          </a:xfrm>
          <a:prstGeom prst="roundRect">
            <a:avLst>
              <a:gd name="adj" fmla="val 1263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6552493" y="1968647"/>
            <a:ext cx="845941" cy="845941"/>
          </a:xfrm>
          <a:prstGeom prst="ellipse">
            <a:avLst/>
          </a:prstGeom>
          <a:solidFill>
            <a:srgbClr val="F472B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737543" y="2153697"/>
            <a:ext cx="475842" cy="475842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7609919" y="1928994"/>
            <a:ext cx="3965348" cy="3965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崔慧敏 | 前端交互开发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27"/>
            </p:custDataLst>
          </p:nvPr>
        </p:nvSpPr>
        <p:spPr>
          <a:xfrm>
            <a:off x="7609919" y="2365182"/>
            <a:ext cx="3899259" cy="5287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主导所有前端页面的视觉还原、组件封装开发，以及用户交互体验(UX)的持续优化。</a:t>
            </a:r>
            <a:endParaRPr lang="en-US" sz="1600" b="1" i="0" u="none" strike="noStrike">
              <a:solidFill>
                <a:srgbClr val="E5E7EB">
                  <a:alpha val="80000"/>
                </a:srgb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28"/>
            </p:custDataLst>
          </p:nvPr>
        </p:nvSpPr>
        <p:spPr>
          <a:xfrm>
            <a:off x="6354226" y="3224341"/>
            <a:ext cx="5419309" cy="1255694"/>
          </a:xfrm>
          <a:prstGeom prst="roundRect">
            <a:avLst>
              <a:gd name="adj" fmla="val 1263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>
            <p:custDataLst>
              <p:tags r:id="rId29"/>
            </p:custDataLst>
          </p:nvPr>
        </p:nvSpPr>
        <p:spPr>
          <a:xfrm>
            <a:off x="6552493" y="3422608"/>
            <a:ext cx="845941" cy="845941"/>
          </a:xfrm>
          <a:prstGeom prst="ellipse">
            <a:avLst/>
          </a:prstGeom>
          <a:solidFill>
            <a:srgbClr val="FACC15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737543" y="3607658"/>
            <a:ext cx="475842" cy="475842"/>
          </a:xfrm>
          <a:prstGeom prst="rect">
            <a:avLst/>
          </a:prstGeom>
        </p:spPr>
      </p:pic>
      <p:sp>
        <p:nvSpPr>
          <p:cNvPr id="27" name="AutoShape 27"/>
          <p:cNvSpPr/>
          <p:nvPr>
            <p:custDataLst>
              <p:tags r:id="rId33"/>
            </p:custDataLst>
          </p:nvPr>
        </p:nvSpPr>
        <p:spPr>
          <a:xfrm>
            <a:off x="7609919" y="3382955"/>
            <a:ext cx="3965348" cy="3965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詹淦栩 | 数据库架构师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>
            <p:custDataLst>
              <p:tags r:id="rId34"/>
            </p:custDataLst>
          </p:nvPr>
        </p:nvSpPr>
        <p:spPr>
          <a:xfrm>
            <a:off x="7609919" y="3819143"/>
            <a:ext cx="3899259" cy="5287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0000"/>
              </a:lnSpc>
              <a:buSzTx/>
              <a:defRPr/>
            </a:pPr>
            <a:r>
              <a:rPr lang="en-US" sz="16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负责数据库E-R图设计、SQL脚本编写与性能优化，以及开发、测试环境的数据库维护。</a:t>
            </a:r>
            <a:endParaRPr lang="en-US" sz="1600" b="1" i="0" u="none" strike="noStrike">
              <a:solidFill>
                <a:srgbClr val="E5E7EB">
                  <a:alpha val="80000"/>
                </a:srgbClr>
              </a:solidFill>
              <a:latin typeface="楷体" panose="02010609060101010101" charset="-122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>
            <p:custDataLst>
              <p:tags r:id="rId35"/>
            </p:custDataLst>
          </p:nvPr>
        </p:nvSpPr>
        <p:spPr>
          <a:xfrm>
            <a:off x="6354226" y="4678302"/>
            <a:ext cx="5419309" cy="1255694"/>
          </a:xfrm>
          <a:prstGeom prst="roundRect">
            <a:avLst>
              <a:gd name="adj" fmla="val 1263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>
            <p:custDataLst>
              <p:tags r:id="rId36"/>
            </p:custDataLst>
          </p:nvPr>
        </p:nvSpPr>
        <p:spPr>
          <a:xfrm>
            <a:off x="6552493" y="4876569"/>
            <a:ext cx="845941" cy="845941"/>
          </a:xfrm>
          <a:prstGeom prst="ellipse">
            <a:avLst/>
          </a:prstGeom>
          <a:solidFill>
            <a:srgbClr val="A78BFA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6737543" y="5061619"/>
            <a:ext cx="475842" cy="475842"/>
          </a:xfrm>
          <a:prstGeom prst="rect">
            <a:avLst/>
          </a:prstGeom>
        </p:spPr>
      </p:pic>
      <p:sp>
        <p:nvSpPr>
          <p:cNvPr id="32" name="AutoShape 32"/>
          <p:cNvSpPr/>
          <p:nvPr>
            <p:custDataLst>
              <p:tags r:id="rId40"/>
            </p:custDataLst>
          </p:nvPr>
        </p:nvSpPr>
        <p:spPr>
          <a:xfrm>
            <a:off x="7609919" y="4836916"/>
            <a:ext cx="3965348" cy="3965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协作工具 | GitHub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>
            <p:custDataLst>
              <p:tags r:id="rId41"/>
            </p:custDataLst>
          </p:nvPr>
        </p:nvSpPr>
        <p:spPr>
          <a:xfrm>
            <a:off x="7609840" y="5273040"/>
            <a:ext cx="4163695" cy="5289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5E7EB">
                    <a:alpha val="80000"/>
                  </a:srgbClr>
                </a:solidFill>
                <a:latin typeface="楷体" panose="02010609060101010101" charset="-122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统一使用 Git 进行版本控制，通过 Pull Request 机制进行严格的代码审查与合并管理</a:t>
            </a:r>
            <a:r>
              <a:rPr lang="en-US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145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0" i="0" u="none" strike="noStrike">
                <a:solidFill>
                  <a:srgbClr val="FFFFFF"/>
                </a:solidFill>
                <a:latin typeface="汉仪魏碑简" panose="02010600000101010101" charset="-128"/>
                <a:ea typeface="汉仪魏碑简" panose="02010600000101010101" charset="-128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8000" b="0" i="0" u="none" strike="noStrike">
              <a:solidFill>
                <a:srgbClr val="FFFFFF"/>
              </a:solidFill>
              <a:latin typeface="汉仪魏碑简" panose="02010600000101010101" charset="-128"/>
              <a:ea typeface="汉仪魏碑简" panose="02010600000101010101" charset="-128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63500" y="27305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800" b="1" i="0" u="none" strike="noStrike">
                <a:solidFill>
                  <a:srgbClr val="FFFFFF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Q&amp;A</a:t>
            </a:r>
            <a:endParaRPr lang="en-US" sz="8800" b="1" i="0" u="none" strike="noStrike">
              <a:solidFill>
                <a:srgbClr val="FFFFFF"/>
              </a:solidFill>
              <a:latin typeface="Times New Roman" panose="02020603050405020304" charset="0"/>
              <a:ea typeface="Noto Sans SC" panose="020B0200000000000000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4508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WATCHING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2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3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4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5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6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7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8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9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10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11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12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13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14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15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16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17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18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19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20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21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22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23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24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25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26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27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28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29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30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31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32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33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34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35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36.xml><?xml version="1.0" encoding="utf-8"?>
<p:tagLst xmlns:p="http://schemas.openxmlformats.org/presentationml/2006/main">
  <p:tag name="KSO_WM_DIAGRAM_VIRTUALLY_FRAME" val="{&quot;height&quot;:370,&quot;left&quot;:60.7,&quot;top&quot;:117.9,&quot;width&quot;:840}"/>
</p:tagLst>
</file>

<file path=ppt/tags/tag37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38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39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40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41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42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43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44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45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46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47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48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49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50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51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52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53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54.xml><?xml version="1.0" encoding="utf-8"?>
<p:tagLst xmlns:p="http://schemas.openxmlformats.org/presentationml/2006/main">
  <p:tag name="KSO_WM_DIAGRAM_VIRTUALLY_FRAME" val="{&quot;height&quot;:330,&quot;left&quot;:61.45,&quot;top&quot;:139.3,&quot;width&quot;:840}"/>
</p:tagLst>
</file>

<file path=ppt/tags/tag55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56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57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58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59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60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61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62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63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64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65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66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67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68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69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70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71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72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73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74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75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76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77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78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79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80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81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82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83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84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85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86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87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88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89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90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91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92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93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94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95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96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97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98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99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100.xml><?xml version="1.0" encoding="utf-8"?>
<p:tagLst xmlns:p="http://schemas.openxmlformats.org/presentationml/2006/main">
  <p:tag name="KSO_WM_DIAGRAM_VIRTUALLY_FRAME" val="{&quot;height&quot;:419.1,&quot;left&quot;:60.7,&quot;top&quot;:101.45,&quot;width&quot;:340}"/>
</p:tagLst>
</file>

<file path=ppt/tags/tag101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02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03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04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05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06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07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08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09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10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11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12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13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14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15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16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17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18.xml><?xml version="1.0" encoding="utf-8"?>
<p:tagLst xmlns:p="http://schemas.openxmlformats.org/presentationml/2006/main">
  <p:tag name="KSO_WM_DIAGRAM_VIRTUALLY_FRAME" val="{&quot;height&quot;:346.4,&quot;left&quot;:50,&quot;top&quot;:140,&quot;width&quot;:850}"/>
</p:tagLst>
</file>

<file path=ppt/tags/tag119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20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21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22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23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24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25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26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27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28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29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30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31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32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33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34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35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36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37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38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39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40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41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42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43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44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45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46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47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ags/tag148.xml><?xml version="1.0" encoding="utf-8"?>
<p:tagLst xmlns:p="http://schemas.openxmlformats.org/presentationml/2006/main">
  <p:tag name="KSO_WM_DIAGRAM_VIRTUALLY_FRAME" val="{&quot;height&quot;:353.6,&quot;left&quot;:52.8,&quot;top&quot;:139.4,&quot;width&quot;:874.2500000000003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1887</Words>
  <Application>WPS 演示</Application>
  <PresentationFormat/>
  <Paragraphs>254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15</vt:i4>
      </vt:variant>
    </vt:vector>
  </HeadingPairs>
  <TitlesOfParts>
    <vt:vector size="35" baseType="lpstr">
      <vt:lpstr>Arial</vt:lpstr>
      <vt:lpstr>宋体</vt:lpstr>
      <vt:lpstr>Wingdings</vt:lpstr>
      <vt:lpstr>Arial</vt:lpstr>
      <vt:lpstr>汉仪魏碑简</vt:lpstr>
      <vt:lpstr>MS UI Gothic</vt:lpstr>
      <vt:lpstr>Noto Sans SC</vt:lpstr>
      <vt:lpstr>华文新魏</vt:lpstr>
      <vt:lpstr>楷体</vt:lpstr>
      <vt:lpstr>华文楷体</vt:lpstr>
      <vt:lpstr>微软雅黑</vt:lpstr>
      <vt:lpstr>Times New Roman</vt:lpstr>
      <vt:lpstr>Arial Unicode MS</vt:lpstr>
      <vt:lpstr>Office 主题​​</vt:lpstr>
      <vt:lpstr>默认主题</vt:lpstr>
      <vt:lpstr>6_默认主题</vt:lpstr>
      <vt:lpstr>1_默认主题</vt:lpstr>
      <vt:lpstr>2_默认主题</vt:lpstr>
      <vt:lpstr>3_默认主题</vt:lpstr>
      <vt:lpstr>4_默认主题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WPS_1720416680</cp:lastModifiedBy>
  <cp:revision>6</cp:revision>
  <dcterms:created xsi:type="dcterms:W3CDTF">2026-04-23T13:00:00Z</dcterms:created>
  <dcterms:modified xsi:type="dcterms:W3CDTF">2026-04-23T15:10:09Z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416174984A1C4AD8BED6ADB6AE49B71A_12</vt:lpwstr>
  </property>
  <property fmtid="{D5CDD505-2E9C-101B-9397-08002B2CF9AE}" pid="3" name="KSOProductBuildVer">
    <vt:lpwstr>2052-12.1.0.23542</vt:lpwstr>
  </property>
</Properties>
</file>